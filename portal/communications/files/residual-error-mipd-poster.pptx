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Lst>
  <p:sldSz cx="30276800" cy="42799000"/>
  <p:notesSz cx="6858000" cy="9144000"/>
  <p:embeddedFontLst>
    <p:embeddedFont>
      <p:font typeface="Be Vietnam Ultra-Bold" charset="1" panose="00000900000000000000"/>
      <p:regular r:id="rId7"/>
    </p:embeddedFont>
    <p:embeddedFont>
      <p:font typeface="Be Vietnam" charset="1" panose="00000500000000000000"/>
      <p:regular r:id="rId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fonts/font7.fntdata" Type="http://schemas.openxmlformats.org/officeDocument/2006/relationships/font"/><Relationship Id="rId8" Target="fonts/font8.fntdata" Type="http://schemas.openxmlformats.org/officeDocument/2006/relationships/font"/></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png" Type="http://schemas.openxmlformats.org/officeDocument/2006/relationships/image"/><Relationship Id="rId11" Target="../media/image9.png" Type="http://schemas.openxmlformats.org/officeDocument/2006/relationships/image"/><Relationship Id="rId12" Target="../media/image10.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embeddings/oleObject1.bin" Type="http://schemas.openxmlformats.org/officeDocument/2006/relationships/oleObject"/><Relationship Id="rId7" Target="../media/image5.png" Type="http://schemas.openxmlformats.org/officeDocument/2006/relationships/image"/><Relationship Id="rId8" Target="../media/image6.png" Type="http://schemas.openxmlformats.org/officeDocument/2006/relationships/image"/><Relationship Id="rId9" Target="../media/image7.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EEEF4"/>
        </a:solidFill>
      </p:bgPr>
    </p:bg>
    <p:spTree>
      <p:nvGrpSpPr>
        <p:cNvPr id="1" name=""/>
        <p:cNvGrpSpPr/>
        <p:nvPr/>
      </p:nvGrpSpPr>
      <p:grpSpPr>
        <a:xfrm>
          <a:off x="0" y="0"/>
          <a:ext cx="0" cy="0"/>
          <a:chOff x="0" y="0"/>
          <a:chExt cx="0" cy="0"/>
        </a:xfrm>
      </p:grpSpPr>
      <p:sp>
        <p:nvSpPr>
          <p:cNvPr name="AutoShape 2" id="2"/>
          <p:cNvSpPr/>
          <p:nvPr/>
        </p:nvSpPr>
        <p:spPr>
          <a:xfrm rot="0">
            <a:off x="1265786" y="25704684"/>
            <a:ext cx="27933848" cy="10722561"/>
          </a:xfrm>
          <a:prstGeom prst="rect">
            <a:avLst/>
          </a:prstGeom>
          <a:solidFill>
            <a:srgbClr val="FFFFFF"/>
          </a:solidFill>
        </p:spPr>
      </p:sp>
      <p:grpSp>
        <p:nvGrpSpPr>
          <p:cNvPr name="Group 3" id="3"/>
          <p:cNvGrpSpPr/>
          <p:nvPr/>
        </p:nvGrpSpPr>
        <p:grpSpPr>
          <a:xfrm rot="0">
            <a:off x="1265786" y="25704684"/>
            <a:ext cx="27933848" cy="10722561"/>
            <a:chOff x="0" y="0"/>
            <a:chExt cx="126065785" cy="48391044"/>
          </a:xfrm>
        </p:grpSpPr>
        <p:sp>
          <p:nvSpPr>
            <p:cNvPr name="Freeform 4" id="4"/>
            <p:cNvSpPr/>
            <p:nvPr/>
          </p:nvSpPr>
          <p:spPr>
            <a:xfrm flipH="false" flipV="false" rot="0">
              <a:off x="72390" y="72390"/>
              <a:ext cx="125921011" cy="48246264"/>
            </a:xfrm>
            <a:custGeom>
              <a:avLst/>
              <a:gdLst/>
              <a:ahLst/>
              <a:cxnLst/>
              <a:rect r="r" b="b" t="t" l="l"/>
              <a:pathLst>
                <a:path h="48246264" w="125921011">
                  <a:moveTo>
                    <a:pt x="0" y="0"/>
                  </a:moveTo>
                  <a:lnTo>
                    <a:pt x="125921011" y="0"/>
                  </a:lnTo>
                  <a:lnTo>
                    <a:pt x="125921011" y="48246264"/>
                  </a:lnTo>
                  <a:lnTo>
                    <a:pt x="0" y="48246264"/>
                  </a:lnTo>
                  <a:lnTo>
                    <a:pt x="0" y="0"/>
                  </a:lnTo>
                  <a:close/>
                </a:path>
              </a:pathLst>
            </a:custGeom>
          </p:spPr>
        </p:sp>
        <p:sp>
          <p:nvSpPr>
            <p:cNvPr name="Freeform 5" id="5"/>
            <p:cNvSpPr/>
            <p:nvPr/>
          </p:nvSpPr>
          <p:spPr>
            <a:xfrm flipH="false" flipV="false" rot="0">
              <a:off x="0" y="0"/>
              <a:ext cx="126065781" cy="48391043"/>
            </a:xfrm>
            <a:custGeom>
              <a:avLst/>
              <a:gdLst/>
              <a:ahLst/>
              <a:cxnLst/>
              <a:rect r="r" b="b" t="t" l="l"/>
              <a:pathLst>
                <a:path h="48391043" w="126065781">
                  <a:moveTo>
                    <a:pt x="125921008" y="48246264"/>
                  </a:moveTo>
                  <a:lnTo>
                    <a:pt x="126065781" y="48246264"/>
                  </a:lnTo>
                  <a:lnTo>
                    <a:pt x="126065781" y="48391043"/>
                  </a:lnTo>
                  <a:lnTo>
                    <a:pt x="125921008" y="48391043"/>
                  </a:lnTo>
                  <a:lnTo>
                    <a:pt x="125921008" y="48246264"/>
                  </a:lnTo>
                  <a:close/>
                  <a:moveTo>
                    <a:pt x="0" y="144780"/>
                  </a:moveTo>
                  <a:lnTo>
                    <a:pt x="144780" y="144780"/>
                  </a:lnTo>
                  <a:lnTo>
                    <a:pt x="144780" y="48246264"/>
                  </a:lnTo>
                  <a:lnTo>
                    <a:pt x="0" y="48246264"/>
                  </a:lnTo>
                  <a:lnTo>
                    <a:pt x="0" y="144780"/>
                  </a:lnTo>
                  <a:close/>
                  <a:moveTo>
                    <a:pt x="0" y="48246264"/>
                  </a:moveTo>
                  <a:lnTo>
                    <a:pt x="144780" y="48246264"/>
                  </a:lnTo>
                  <a:lnTo>
                    <a:pt x="144780" y="48391043"/>
                  </a:lnTo>
                  <a:lnTo>
                    <a:pt x="0" y="48391043"/>
                  </a:lnTo>
                  <a:lnTo>
                    <a:pt x="0" y="48246264"/>
                  </a:lnTo>
                  <a:close/>
                  <a:moveTo>
                    <a:pt x="125921008" y="144780"/>
                  </a:moveTo>
                  <a:lnTo>
                    <a:pt x="126065781" y="144780"/>
                  </a:lnTo>
                  <a:lnTo>
                    <a:pt x="126065781" y="48246264"/>
                  </a:lnTo>
                  <a:lnTo>
                    <a:pt x="125921008" y="48246264"/>
                  </a:lnTo>
                  <a:lnTo>
                    <a:pt x="125921008" y="144780"/>
                  </a:lnTo>
                  <a:close/>
                  <a:moveTo>
                    <a:pt x="144780" y="48246264"/>
                  </a:moveTo>
                  <a:lnTo>
                    <a:pt x="125921008" y="48246264"/>
                  </a:lnTo>
                  <a:lnTo>
                    <a:pt x="125921008" y="48391043"/>
                  </a:lnTo>
                  <a:lnTo>
                    <a:pt x="144780" y="48391043"/>
                  </a:lnTo>
                  <a:lnTo>
                    <a:pt x="144780" y="48246264"/>
                  </a:lnTo>
                  <a:close/>
                  <a:moveTo>
                    <a:pt x="125921008" y="0"/>
                  </a:moveTo>
                  <a:lnTo>
                    <a:pt x="126065781" y="0"/>
                  </a:lnTo>
                  <a:lnTo>
                    <a:pt x="126065781" y="144780"/>
                  </a:lnTo>
                  <a:lnTo>
                    <a:pt x="125921008" y="144780"/>
                  </a:lnTo>
                  <a:lnTo>
                    <a:pt x="125921008" y="0"/>
                  </a:lnTo>
                  <a:close/>
                  <a:moveTo>
                    <a:pt x="0" y="0"/>
                  </a:moveTo>
                  <a:lnTo>
                    <a:pt x="144780" y="0"/>
                  </a:lnTo>
                  <a:lnTo>
                    <a:pt x="144780" y="144780"/>
                  </a:lnTo>
                  <a:lnTo>
                    <a:pt x="0" y="144780"/>
                  </a:lnTo>
                  <a:lnTo>
                    <a:pt x="0" y="0"/>
                  </a:lnTo>
                  <a:close/>
                  <a:moveTo>
                    <a:pt x="144780" y="0"/>
                  </a:moveTo>
                  <a:lnTo>
                    <a:pt x="125921008" y="0"/>
                  </a:lnTo>
                  <a:lnTo>
                    <a:pt x="125921008" y="144780"/>
                  </a:lnTo>
                  <a:lnTo>
                    <a:pt x="144780" y="144780"/>
                  </a:lnTo>
                  <a:lnTo>
                    <a:pt x="144780" y="0"/>
                  </a:lnTo>
                  <a:close/>
                </a:path>
              </a:pathLst>
            </a:custGeom>
            <a:solidFill>
              <a:srgbClr val="464262"/>
            </a:solidFill>
          </p:spPr>
        </p:sp>
      </p:grpSp>
      <p:sp>
        <p:nvSpPr>
          <p:cNvPr name="AutoShape 6" id="6"/>
          <p:cNvSpPr/>
          <p:nvPr/>
        </p:nvSpPr>
        <p:spPr>
          <a:xfrm rot="0">
            <a:off x="1240638" y="41230788"/>
            <a:ext cx="27958997" cy="1224637"/>
          </a:xfrm>
          <a:prstGeom prst="rect">
            <a:avLst/>
          </a:prstGeom>
          <a:solidFill>
            <a:srgbClr val="FFFFFF"/>
          </a:solidFill>
        </p:spPr>
      </p:sp>
      <p:grpSp>
        <p:nvGrpSpPr>
          <p:cNvPr name="Group 7" id="7"/>
          <p:cNvGrpSpPr/>
          <p:nvPr/>
        </p:nvGrpSpPr>
        <p:grpSpPr>
          <a:xfrm rot="0">
            <a:off x="1240638" y="41230788"/>
            <a:ext cx="27958997" cy="1231850"/>
            <a:chOff x="0" y="0"/>
            <a:chExt cx="506440990" cy="22313364"/>
          </a:xfrm>
        </p:grpSpPr>
        <p:sp>
          <p:nvSpPr>
            <p:cNvPr name="Freeform 8" id="8"/>
            <p:cNvSpPr/>
            <p:nvPr/>
          </p:nvSpPr>
          <p:spPr>
            <a:xfrm flipH="false" flipV="false" rot="0">
              <a:off x="72390" y="72390"/>
              <a:ext cx="506296206" cy="22168584"/>
            </a:xfrm>
            <a:custGeom>
              <a:avLst/>
              <a:gdLst/>
              <a:ahLst/>
              <a:cxnLst/>
              <a:rect r="r" b="b" t="t" l="l"/>
              <a:pathLst>
                <a:path h="22168584" w="506296206">
                  <a:moveTo>
                    <a:pt x="0" y="0"/>
                  </a:moveTo>
                  <a:lnTo>
                    <a:pt x="506296206" y="0"/>
                  </a:lnTo>
                  <a:lnTo>
                    <a:pt x="506296206" y="22168584"/>
                  </a:lnTo>
                  <a:lnTo>
                    <a:pt x="0" y="22168584"/>
                  </a:lnTo>
                  <a:lnTo>
                    <a:pt x="0" y="0"/>
                  </a:lnTo>
                  <a:close/>
                </a:path>
              </a:pathLst>
            </a:custGeom>
          </p:spPr>
        </p:sp>
        <p:sp>
          <p:nvSpPr>
            <p:cNvPr name="Freeform 9" id="9"/>
            <p:cNvSpPr/>
            <p:nvPr/>
          </p:nvSpPr>
          <p:spPr>
            <a:xfrm flipH="false" flipV="false" rot="0">
              <a:off x="0" y="0"/>
              <a:ext cx="506440976" cy="22313364"/>
            </a:xfrm>
            <a:custGeom>
              <a:avLst/>
              <a:gdLst/>
              <a:ahLst/>
              <a:cxnLst/>
              <a:rect r="r" b="b" t="t" l="l"/>
              <a:pathLst>
                <a:path h="22313364" w="506440976">
                  <a:moveTo>
                    <a:pt x="506296216" y="22168583"/>
                  </a:moveTo>
                  <a:lnTo>
                    <a:pt x="506440976" y="22168583"/>
                  </a:lnTo>
                  <a:lnTo>
                    <a:pt x="506440976" y="22313364"/>
                  </a:lnTo>
                  <a:lnTo>
                    <a:pt x="506296216" y="22313364"/>
                  </a:lnTo>
                  <a:lnTo>
                    <a:pt x="506296216" y="22168583"/>
                  </a:lnTo>
                  <a:close/>
                  <a:moveTo>
                    <a:pt x="0" y="144780"/>
                  </a:moveTo>
                  <a:lnTo>
                    <a:pt x="144780" y="144780"/>
                  </a:lnTo>
                  <a:lnTo>
                    <a:pt x="144780" y="22168583"/>
                  </a:lnTo>
                  <a:lnTo>
                    <a:pt x="0" y="22168583"/>
                  </a:lnTo>
                  <a:lnTo>
                    <a:pt x="0" y="144780"/>
                  </a:lnTo>
                  <a:close/>
                  <a:moveTo>
                    <a:pt x="0" y="22168583"/>
                  </a:moveTo>
                  <a:lnTo>
                    <a:pt x="144780" y="22168583"/>
                  </a:lnTo>
                  <a:lnTo>
                    <a:pt x="144780" y="22313364"/>
                  </a:lnTo>
                  <a:lnTo>
                    <a:pt x="0" y="22313364"/>
                  </a:lnTo>
                  <a:lnTo>
                    <a:pt x="0" y="22168583"/>
                  </a:lnTo>
                  <a:close/>
                  <a:moveTo>
                    <a:pt x="506296216" y="144780"/>
                  </a:moveTo>
                  <a:lnTo>
                    <a:pt x="506440976" y="144780"/>
                  </a:lnTo>
                  <a:lnTo>
                    <a:pt x="506440976" y="22168583"/>
                  </a:lnTo>
                  <a:lnTo>
                    <a:pt x="506296216" y="22168583"/>
                  </a:lnTo>
                  <a:lnTo>
                    <a:pt x="506296216" y="144780"/>
                  </a:lnTo>
                  <a:close/>
                  <a:moveTo>
                    <a:pt x="144780" y="22168583"/>
                  </a:moveTo>
                  <a:lnTo>
                    <a:pt x="506296216" y="22168583"/>
                  </a:lnTo>
                  <a:lnTo>
                    <a:pt x="506296216" y="22313364"/>
                  </a:lnTo>
                  <a:lnTo>
                    <a:pt x="144780" y="22313364"/>
                  </a:lnTo>
                  <a:lnTo>
                    <a:pt x="144780" y="22168583"/>
                  </a:lnTo>
                  <a:close/>
                  <a:moveTo>
                    <a:pt x="506296216" y="0"/>
                  </a:moveTo>
                  <a:lnTo>
                    <a:pt x="506440976" y="0"/>
                  </a:lnTo>
                  <a:lnTo>
                    <a:pt x="506440976" y="144780"/>
                  </a:lnTo>
                  <a:lnTo>
                    <a:pt x="506296216" y="144780"/>
                  </a:lnTo>
                  <a:lnTo>
                    <a:pt x="506296216" y="0"/>
                  </a:lnTo>
                  <a:close/>
                  <a:moveTo>
                    <a:pt x="0" y="0"/>
                  </a:moveTo>
                  <a:lnTo>
                    <a:pt x="144780" y="0"/>
                  </a:lnTo>
                  <a:lnTo>
                    <a:pt x="144780" y="144780"/>
                  </a:lnTo>
                  <a:lnTo>
                    <a:pt x="0" y="144780"/>
                  </a:lnTo>
                  <a:lnTo>
                    <a:pt x="0" y="0"/>
                  </a:lnTo>
                  <a:close/>
                  <a:moveTo>
                    <a:pt x="144780" y="0"/>
                  </a:moveTo>
                  <a:lnTo>
                    <a:pt x="506296216" y="0"/>
                  </a:lnTo>
                  <a:lnTo>
                    <a:pt x="506296216" y="144780"/>
                  </a:lnTo>
                  <a:lnTo>
                    <a:pt x="144780" y="144780"/>
                  </a:lnTo>
                  <a:lnTo>
                    <a:pt x="144780" y="0"/>
                  </a:lnTo>
                  <a:close/>
                </a:path>
              </a:pathLst>
            </a:custGeom>
            <a:solidFill>
              <a:srgbClr val="464262"/>
            </a:solidFill>
          </p:spPr>
        </p:sp>
      </p:grpSp>
      <p:sp>
        <p:nvSpPr>
          <p:cNvPr name="AutoShape 10" id="10"/>
          <p:cNvSpPr/>
          <p:nvPr/>
        </p:nvSpPr>
        <p:spPr>
          <a:xfrm rot="0">
            <a:off x="22122505" y="36872187"/>
            <a:ext cx="7077129" cy="4151942"/>
          </a:xfrm>
          <a:prstGeom prst="rect">
            <a:avLst/>
          </a:prstGeom>
          <a:solidFill>
            <a:srgbClr val="FFFFFF"/>
          </a:solidFill>
        </p:spPr>
      </p:sp>
      <p:grpSp>
        <p:nvGrpSpPr>
          <p:cNvPr name="Group 11" id="11"/>
          <p:cNvGrpSpPr/>
          <p:nvPr/>
        </p:nvGrpSpPr>
        <p:grpSpPr>
          <a:xfrm rot="0">
            <a:off x="22122505" y="36872187"/>
            <a:ext cx="7077129" cy="4177625"/>
            <a:chOff x="0" y="0"/>
            <a:chExt cx="32131784" cy="18967375"/>
          </a:xfrm>
        </p:grpSpPr>
        <p:sp>
          <p:nvSpPr>
            <p:cNvPr name="Freeform 12" id="12"/>
            <p:cNvSpPr/>
            <p:nvPr/>
          </p:nvSpPr>
          <p:spPr>
            <a:xfrm flipH="false" flipV="false" rot="0">
              <a:off x="72390" y="72390"/>
              <a:ext cx="31987005" cy="18822596"/>
            </a:xfrm>
            <a:custGeom>
              <a:avLst/>
              <a:gdLst/>
              <a:ahLst/>
              <a:cxnLst/>
              <a:rect r="r" b="b" t="t" l="l"/>
              <a:pathLst>
                <a:path h="18822596" w="31987005">
                  <a:moveTo>
                    <a:pt x="0" y="0"/>
                  </a:moveTo>
                  <a:lnTo>
                    <a:pt x="31987005" y="0"/>
                  </a:lnTo>
                  <a:lnTo>
                    <a:pt x="31987005" y="18822596"/>
                  </a:lnTo>
                  <a:lnTo>
                    <a:pt x="0" y="18822596"/>
                  </a:lnTo>
                  <a:lnTo>
                    <a:pt x="0" y="0"/>
                  </a:lnTo>
                  <a:close/>
                </a:path>
              </a:pathLst>
            </a:custGeom>
          </p:spPr>
        </p:sp>
        <p:sp>
          <p:nvSpPr>
            <p:cNvPr name="Freeform 13" id="13"/>
            <p:cNvSpPr/>
            <p:nvPr/>
          </p:nvSpPr>
          <p:spPr>
            <a:xfrm flipH="false" flipV="false" rot="0">
              <a:off x="0" y="0"/>
              <a:ext cx="32131784" cy="18967376"/>
            </a:xfrm>
            <a:custGeom>
              <a:avLst/>
              <a:gdLst/>
              <a:ahLst/>
              <a:cxnLst/>
              <a:rect r="r" b="b" t="t" l="l"/>
              <a:pathLst>
                <a:path h="18967376" w="32131784">
                  <a:moveTo>
                    <a:pt x="31987003" y="18822595"/>
                  </a:moveTo>
                  <a:lnTo>
                    <a:pt x="32131784" y="18822595"/>
                  </a:lnTo>
                  <a:lnTo>
                    <a:pt x="32131784" y="18967376"/>
                  </a:lnTo>
                  <a:lnTo>
                    <a:pt x="31987003" y="18967376"/>
                  </a:lnTo>
                  <a:lnTo>
                    <a:pt x="31987003" y="18822595"/>
                  </a:lnTo>
                  <a:close/>
                  <a:moveTo>
                    <a:pt x="0" y="144780"/>
                  </a:moveTo>
                  <a:lnTo>
                    <a:pt x="144780" y="144780"/>
                  </a:lnTo>
                  <a:lnTo>
                    <a:pt x="144780" y="18822595"/>
                  </a:lnTo>
                  <a:lnTo>
                    <a:pt x="0" y="18822595"/>
                  </a:lnTo>
                  <a:lnTo>
                    <a:pt x="0" y="144780"/>
                  </a:lnTo>
                  <a:close/>
                  <a:moveTo>
                    <a:pt x="0" y="18822595"/>
                  </a:moveTo>
                  <a:lnTo>
                    <a:pt x="144780" y="18822595"/>
                  </a:lnTo>
                  <a:lnTo>
                    <a:pt x="144780" y="18967376"/>
                  </a:lnTo>
                  <a:lnTo>
                    <a:pt x="0" y="18967376"/>
                  </a:lnTo>
                  <a:lnTo>
                    <a:pt x="0" y="18822595"/>
                  </a:lnTo>
                  <a:close/>
                  <a:moveTo>
                    <a:pt x="31987003" y="144780"/>
                  </a:moveTo>
                  <a:lnTo>
                    <a:pt x="32131784" y="144780"/>
                  </a:lnTo>
                  <a:lnTo>
                    <a:pt x="32131784" y="18822595"/>
                  </a:lnTo>
                  <a:lnTo>
                    <a:pt x="31987003" y="18822595"/>
                  </a:lnTo>
                  <a:lnTo>
                    <a:pt x="31987003" y="144780"/>
                  </a:lnTo>
                  <a:close/>
                  <a:moveTo>
                    <a:pt x="144780" y="18822595"/>
                  </a:moveTo>
                  <a:lnTo>
                    <a:pt x="31987003" y="18822595"/>
                  </a:lnTo>
                  <a:lnTo>
                    <a:pt x="31987003" y="18967376"/>
                  </a:lnTo>
                  <a:lnTo>
                    <a:pt x="144780" y="18967376"/>
                  </a:lnTo>
                  <a:lnTo>
                    <a:pt x="144780" y="18822595"/>
                  </a:lnTo>
                  <a:close/>
                  <a:moveTo>
                    <a:pt x="31987003" y="0"/>
                  </a:moveTo>
                  <a:lnTo>
                    <a:pt x="32131784" y="0"/>
                  </a:lnTo>
                  <a:lnTo>
                    <a:pt x="32131784" y="144780"/>
                  </a:lnTo>
                  <a:lnTo>
                    <a:pt x="31987003" y="144780"/>
                  </a:lnTo>
                  <a:lnTo>
                    <a:pt x="31987003" y="0"/>
                  </a:lnTo>
                  <a:close/>
                  <a:moveTo>
                    <a:pt x="0" y="0"/>
                  </a:moveTo>
                  <a:lnTo>
                    <a:pt x="144780" y="0"/>
                  </a:lnTo>
                  <a:lnTo>
                    <a:pt x="144780" y="144780"/>
                  </a:lnTo>
                  <a:lnTo>
                    <a:pt x="0" y="144780"/>
                  </a:lnTo>
                  <a:lnTo>
                    <a:pt x="0" y="0"/>
                  </a:lnTo>
                  <a:close/>
                  <a:moveTo>
                    <a:pt x="144780" y="0"/>
                  </a:moveTo>
                  <a:lnTo>
                    <a:pt x="31987003" y="0"/>
                  </a:lnTo>
                  <a:lnTo>
                    <a:pt x="31987003" y="144780"/>
                  </a:lnTo>
                  <a:lnTo>
                    <a:pt x="144780" y="144780"/>
                  </a:lnTo>
                  <a:lnTo>
                    <a:pt x="144780" y="0"/>
                  </a:lnTo>
                  <a:close/>
                </a:path>
              </a:pathLst>
            </a:custGeom>
            <a:solidFill>
              <a:srgbClr val="464262"/>
            </a:solidFill>
          </p:spPr>
        </p:sp>
      </p:grpSp>
      <p:sp>
        <p:nvSpPr>
          <p:cNvPr name="AutoShape 14" id="14"/>
          <p:cNvSpPr/>
          <p:nvPr/>
        </p:nvSpPr>
        <p:spPr>
          <a:xfrm rot="0">
            <a:off x="1245092" y="36872187"/>
            <a:ext cx="11090673" cy="4177625"/>
          </a:xfrm>
          <a:prstGeom prst="rect">
            <a:avLst/>
          </a:prstGeom>
          <a:solidFill>
            <a:srgbClr val="FFFFFF"/>
          </a:solidFill>
        </p:spPr>
      </p:sp>
      <p:grpSp>
        <p:nvGrpSpPr>
          <p:cNvPr name="Group 15" id="15"/>
          <p:cNvGrpSpPr/>
          <p:nvPr/>
        </p:nvGrpSpPr>
        <p:grpSpPr>
          <a:xfrm rot="0">
            <a:off x="1245092" y="36846345"/>
            <a:ext cx="11090673" cy="4203468"/>
            <a:chOff x="0" y="0"/>
            <a:chExt cx="50354192" cy="19084705"/>
          </a:xfrm>
        </p:grpSpPr>
        <p:sp>
          <p:nvSpPr>
            <p:cNvPr name="Freeform 16" id="16"/>
            <p:cNvSpPr/>
            <p:nvPr/>
          </p:nvSpPr>
          <p:spPr>
            <a:xfrm flipH="false" flipV="false" rot="0">
              <a:off x="72390" y="72390"/>
              <a:ext cx="50209412" cy="18939925"/>
            </a:xfrm>
            <a:custGeom>
              <a:avLst/>
              <a:gdLst/>
              <a:ahLst/>
              <a:cxnLst/>
              <a:rect r="r" b="b" t="t" l="l"/>
              <a:pathLst>
                <a:path h="18939925" w="50209412">
                  <a:moveTo>
                    <a:pt x="0" y="0"/>
                  </a:moveTo>
                  <a:lnTo>
                    <a:pt x="50209412" y="0"/>
                  </a:lnTo>
                  <a:lnTo>
                    <a:pt x="50209412" y="18939925"/>
                  </a:lnTo>
                  <a:lnTo>
                    <a:pt x="0" y="18939925"/>
                  </a:lnTo>
                  <a:lnTo>
                    <a:pt x="0" y="0"/>
                  </a:lnTo>
                  <a:close/>
                </a:path>
              </a:pathLst>
            </a:custGeom>
          </p:spPr>
        </p:sp>
        <p:sp>
          <p:nvSpPr>
            <p:cNvPr name="Freeform 17" id="17"/>
            <p:cNvSpPr/>
            <p:nvPr/>
          </p:nvSpPr>
          <p:spPr>
            <a:xfrm flipH="false" flipV="false" rot="0">
              <a:off x="0" y="0"/>
              <a:ext cx="50354192" cy="19084705"/>
            </a:xfrm>
            <a:custGeom>
              <a:avLst/>
              <a:gdLst/>
              <a:ahLst/>
              <a:cxnLst/>
              <a:rect r="r" b="b" t="t" l="l"/>
              <a:pathLst>
                <a:path h="19084705" w="50354192">
                  <a:moveTo>
                    <a:pt x="50209413" y="18939925"/>
                  </a:moveTo>
                  <a:lnTo>
                    <a:pt x="50354192" y="18939925"/>
                  </a:lnTo>
                  <a:lnTo>
                    <a:pt x="50354192" y="19084705"/>
                  </a:lnTo>
                  <a:lnTo>
                    <a:pt x="50209413" y="19084705"/>
                  </a:lnTo>
                  <a:lnTo>
                    <a:pt x="50209413" y="18939925"/>
                  </a:lnTo>
                  <a:close/>
                  <a:moveTo>
                    <a:pt x="0" y="144780"/>
                  </a:moveTo>
                  <a:lnTo>
                    <a:pt x="144780" y="144780"/>
                  </a:lnTo>
                  <a:lnTo>
                    <a:pt x="144780" y="18939925"/>
                  </a:lnTo>
                  <a:lnTo>
                    <a:pt x="0" y="18939925"/>
                  </a:lnTo>
                  <a:lnTo>
                    <a:pt x="0" y="144780"/>
                  </a:lnTo>
                  <a:close/>
                  <a:moveTo>
                    <a:pt x="0" y="18939925"/>
                  </a:moveTo>
                  <a:lnTo>
                    <a:pt x="144780" y="18939925"/>
                  </a:lnTo>
                  <a:lnTo>
                    <a:pt x="144780" y="19084705"/>
                  </a:lnTo>
                  <a:lnTo>
                    <a:pt x="0" y="19084705"/>
                  </a:lnTo>
                  <a:lnTo>
                    <a:pt x="0" y="18939925"/>
                  </a:lnTo>
                  <a:close/>
                  <a:moveTo>
                    <a:pt x="50209413" y="144780"/>
                  </a:moveTo>
                  <a:lnTo>
                    <a:pt x="50354192" y="144780"/>
                  </a:lnTo>
                  <a:lnTo>
                    <a:pt x="50354192" y="18939925"/>
                  </a:lnTo>
                  <a:lnTo>
                    <a:pt x="50209413" y="18939925"/>
                  </a:lnTo>
                  <a:lnTo>
                    <a:pt x="50209413" y="144780"/>
                  </a:lnTo>
                  <a:close/>
                  <a:moveTo>
                    <a:pt x="144780" y="18939925"/>
                  </a:moveTo>
                  <a:lnTo>
                    <a:pt x="50209413" y="18939925"/>
                  </a:lnTo>
                  <a:lnTo>
                    <a:pt x="50209413" y="19084705"/>
                  </a:lnTo>
                  <a:lnTo>
                    <a:pt x="144780" y="19084705"/>
                  </a:lnTo>
                  <a:lnTo>
                    <a:pt x="144780" y="18939925"/>
                  </a:lnTo>
                  <a:close/>
                  <a:moveTo>
                    <a:pt x="50209413" y="0"/>
                  </a:moveTo>
                  <a:lnTo>
                    <a:pt x="50354192" y="0"/>
                  </a:lnTo>
                  <a:lnTo>
                    <a:pt x="50354192" y="144780"/>
                  </a:lnTo>
                  <a:lnTo>
                    <a:pt x="50209413" y="144780"/>
                  </a:lnTo>
                  <a:lnTo>
                    <a:pt x="50209413" y="0"/>
                  </a:lnTo>
                  <a:close/>
                  <a:moveTo>
                    <a:pt x="0" y="0"/>
                  </a:moveTo>
                  <a:lnTo>
                    <a:pt x="144780" y="0"/>
                  </a:lnTo>
                  <a:lnTo>
                    <a:pt x="144780" y="144780"/>
                  </a:lnTo>
                  <a:lnTo>
                    <a:pt x="0" y="144780"/>
                  </a:lnTo>
                  <a:lnTo>
                    <a:pt x="0" y="0"/>
                  </a:lnTo>
                  <a:close/>
                  <a:moveTo>
                    <a:pt x="144780" y="0"/>
                  </a:moveTo>
                  <a:lnTo>
                    <a:pt x="50209413" y="0"/>
                  </a:lnTo>
                  <a:lnTo>
                    <a:pt x="50209413" y="144780"/>
                  </a:lnTo>
                  <a:lnTo>
                    <a:pt x="144780" y="144780"/>
                  </a:lnTo>
                  <a:lnTo>
                    <a:pt x="144780" y="0"/>
                  </a:lnTo>
                  <a:close/>
                </a:path>
              </a:pathLst>
            </a:custGeom>
            <a:solidFill>
              <a:srgbClr val="464262"/>
            </a:solidFill>
          </p:spPr>
        </p:sp>
      </p:grpSp>
      <p:sp>
        <p:nvSpPr>
          <p:cNvPr name="AutoShape 18" id="18"/>
          <p:cNvSpPr/>
          <p:nvPr/>
        </p:nvSpPr>
        <p:spPr>
          <a:xfrm rot="0">
            <a:off x="15258785" y="6720942"/>
            <a:ext cx="13940849" cy="18536067"/>
          </a:xfrm>
          <a:prstGeom prst="rect">
            <a:avLst/>
          </a:prstGeom>
          <a:solidFill>
            <a:srgbClr val="FFFFFF"/>
          </a:solidFill>
        </p:spPr>
      </p:sp>
      <p:grpSp>
        <p:nvGrpSpPr>
          <p:cNvPr name="Group 19" id="19"/>
          <p:cNvGrpSpPr/>
          <p:nvPr/>
        </p:nvGrpSpPr>
        <p:grpSpPr>
          <a:xfrm rot="0">
            <a:off x="15207562" y="6720942"/>
            <a:ext cx="13992073" cy="18536067"/>
            <a:chOff x="0" y="0"/>
            <a:chExt cx="63339923" cy="83909877"/>
          </a:xfrm>
        </p:grpSpPr>
        <p:sp>
          <p:nvSpPr>
            <p:cNvPr name="Freeform 20" id="20"/>
            <p:cNvSpPr/>
            <p:nvPr/>
          </p:nvSpPr>
          <p:spPr>
            <a:xfrm flipH="false" flipV="false" rot="0">
              <a:off x="72390" y="72390"/>
              <a:ext cx="63195147" cy="83765097"/>
            </a:xfrm>
            <a:custGeom>
              <a:avLst/>
              <a:gdLst/>
              <a:ahLst/>
              <a:cxnLst/>
              <a:rect r="r" b="b" t="t" l="l"/>
              <a:pathLst>
                <a:path h="83765097" w="63195147">
                  <a:moveTo>
                    <a:pt x="0" y="0"/>
                  </a:moveTo>
                  <a:lnTo>
                    <a:pt x="63195147" y="0"/>
                  </a:lnTo>
                  <a:lnTo>
                    <a:pt x="63195147" y="83765097"/>
                  </a:lnTo>
                  <a:lnTo>
                    <a:pt x="0" y="83765097"/>
                  </a:lnTo>
                  <a:lnTo>
                    <a:pt x="0" y="0"/>
                  </a:lnTo>
                  <a:close/>
                </a:path>
              </a:pathLst>
            </a:custGeom>
          </p:spPr>
        </p:sp>
        <p:sp>
          <p:nvSpPr>
            <p:cNvPr name="Freeform 21" id="21"/>
            <p:cNvSpPr/>
            <p:nvPr/>
          </p:nvSpPr>
          <p:spPr>
            <a:xfrm flipH="false" flipV="false" rot="0">
              <a:off x="0" y="0"/>
              <a:ext cx="63339923" cy="83909874"/>
            </a:xfrm>
            <a:custGeom>
              <a:avLst/>
              <a:gdLst/>
              <a:ahLst/>
              <a:cxnLst/>
              <a:rect r="r" b="b" t="t" l="l"/>
              <a:pathLst>
                <a:path h="83909874" w="63339923">
                  <a:moveTo>
                    <a:pt x="63195144" y="83765095"/>
                  </a:moveTo>
                  <a:lnTo>
                    <a:pt x="63339923" y="83765095"/>
                  </a:lnTo>
                  <a:lnTo>
                    <a:pt x="63339923" y="83909874"/>
                  </a:lnTo>
                  <a:lnTo>
                    <a:pt x="63195144" y="83909874"/>
                  </a:lnTo>
                  <a:lnTo>
                    <a:pt x="63195144" y="83765095"/>
                  </a:lnTo>
                  <a:close/>
                  <a:moveTo>
                    <a:pt x="0" y="144780"/>
                  </a:moveTo>
                  <a:lnTo>
                    <a:pt x="144780" y="144780"/>
                  </a:lnTo>
                  <a:lnTo>
                    <a:pt x="144780" y="83765095"/>
                  </a:lnTo>
                  <a:lnTo>
                    <a:pt x="0" y="83765095"/>
                  </a:lnTo>
                  <a:lnTo>
                    <a:pt x="0" y="144780"/>
                  </a:lnTo>
                  <a:close/>
                  <a:moveTo>
                    <a:pt x="0" y="83765095"/>
                  </a:moveTo>
                  <a:lnTo>
                    <a:pt x="144780" y="83765095"/>
                  </a:lnTo>
                  <a:lnTo>
                    <a:pt x="144780" y="83909874"/>
                  </a:lnTo>
                  <a:lnTo>
                    <a:pt x="0" y="83909874"/>
                  </a:lnTo>
                  <a:lnTo>
                    <a:pt x="0" y="83765095"/>
                  </a:lnTo>
                  <a:close/>
                  <a:moveTo>
                    <a:pt x="63195144" y="144780"/>
                  </a:moveTo>
                  <a:lnTo>
                    <a:pt x="63339923" y="144780"/>
                  </a:lnTo>
                  <a:lnTo>
                    <a:pt x="63339923" y="83765095"/>
                  </a:lnTo>
                  <a:lnTo>
                    <a:pt x="63195144" y="83765095"/>
                  </a:lnTo>
                  <a:lnTo>
                    <a:pt x="63195144" y="144780"/>
                  </a:lnTo>
                  <a:close/>
                  <a:moveTo>
                    <a:pt x="144780" y="83765095"/>
                  </a:moveTo>
                  <a:lnTo>
                    <a:pt x="63195144" y="83765095"/>
                  </a:lnTo>
                  <a:lnTo>
                    <a:pt x="63195144" y="83909874"/>
                  </a:lnTo>
                  <a:lnTo>
                    <a:pt x="144780" y="83909874"/>
                  </a:lnTo>
                  <a:lnTo>
                    <a:pt x="144780" y="83765095"/>
                  </a:lnTo>
                  <a:close/>
                  <a:moveTo>
                    <a:pt x="63195144" y="0"/>
                  </a:moveTo>
                  <a:lnTo>
                    <a:pt x="63339923" y="0"/>
                  </a:lnTo>
                  <a:lnTo>
                    <a:pt x="63339923" y="144780"/>
                  </a:lnTo>
                  <a:lnTo>
                    <a:pt x="63195144" y="144780"/>
                  </a:lnTo>
                  <a:lnTo>
                    <a:pt x="63195144" y="0"/>
                  </a:lnTo>
                  <a:close/>
                  <a:moveTo>
                    <a:pt x="0" y="0"/>
                  </a:moveTo>
                  <a:lnTo>
                    <a:pt x="144780" y="0"/>
                  </a:lnTo>
                  <a:lnTo>
                    <a:pt x="144780" y="144780"/>
                  </a:lnTo>
                  <a:lnTo>
                    <a:pt x="0" y="144780"/>
                  </a:lnTo>
                  <a:lnTo>
                    <a:pt x="0" y="0"/>
                  </a:lnTo>
                  <a:close/>
                  <a:moveTo>
                    <a:pt x="144780" y="0"/>
                  </a:moveTo>
                  <a:lnTo>
                    <a:pt x="63195144" y="0"/>
                  </a:lnTo>
                  <a:lnTo>
                    <a:pt x="63195144" y="144780"/>
                  </a:lnTo>
                  <a:lnTo>
                    <a:pt x="144780" y="144780"/>
                  </a:lnTo>
                  <a:lnTo>
                    <a:pt x="144780" y="0"/>
                  </a:lnTo>
                  <a:close/>
                </a:path>
              </a:pathLst>
            </a:custGeom>
            <a:solidFill>
              <a:srgbClr val="464262"/>
            </a:solidFill>
          </p:spPr>
        </p:sp>
      </p:grpSp>
      <p:sp>
        <p:nvSpPr>
          <p:cNvPr name="AutoShape 22" id="22"/>
          <p:cNvSpPr/>
          <p:nvPr/>
        </p:nvSpPr>
        <p:spPr>
          <a:xfrm rot="0">
            <a:off x="1275981" y="6720942"/>
            <a:ext cx="13350511" cy="5121296"/>
          </a:xfrm>
          <a:prstGeom prst="rect">
            <a:avLst/>
          </a:prstGeom>
          <a:solidFill>
            <a:srgbClr val="FFFFFF"/>
          </a:solidFill>
        </p:spPr>
      </p:sp>
      <p:grpSp>
        <p:nvGrpSpPr>
          <p:cNvPr name="Group 23" id="23"/>
          <p:cNvGrpSpPr/>
          <p:nvPr/>
        </p:nvGrpSpPr>
        <p:grpSpPr>
          <a:xfrm rot="0">
            <a:off x="1281078" y="6720942"/>
            <a:ext cx="13360706" cy="5138212"/>
            <a:chOff x="0" y="0"/>
            <a:chExt cx="60660662" cy="23328657"/>
          </a:xfrm>
        </p:grpSpPr>
        <p:sp>
          <p:nvSpPr>
            <p:cNvPr name="Freeform 24" id="24"/>
            <p:cNvSpPr/>
            <p:nvPr/>
          </p:nvSpPr>
          <p:spPr>
            <a:xfrm flipH="false" flipV="false" rot="0">
              <a:off x="72390" y="72390"/>
              <a:ext cx="60515881" cy="23183877"/>
            </a:xfrm>
            <a:custGeom>
              <a:avLst/>
              <a:gdLst/>
              <a:ahLst/>
              <a:cxnLst/>
              <a:rect r="r" b="b" t="t" l="l"/>
              <a:pathLst>
                <a:path h="23183877" w="60515881">
                  <a:moveTo>
                    <a:pt x="0" y="0"/>
                  </a:moveTo>
                  <a:lnTo>
                    <a:pt x="60515881" y="0"/>
                  </a:lnTo>
                  <a:lnTo>
                    <a:pt x="60515881" y="23183877"/>
                  </a:lnTo>
                  <a:lnTo>
                    <a:pt x="0" y="23183877"/>
                  </a:lnTo>
                  <a:lnTo>
                    <a:pt x="0" y="0"/>
                  </a:lnTo>
                  <a:close/>
                </a:path>
              </a:pathLst>
            </a:custGeom>
          </p:spPr>
        </p:sp>
        <p:sp>
          <p:nvSpPr>
            <p:cNvPr name="Freeform 25" id="25"/>
            <p:cNvSpPr/>
            <p:nvPr/>
          </p:nvSpPr>
          <p:spPr>
            <a:xfrm flipH="false" flipV="false" rot="0">
              <a:off x="0" y="0"/>
              <a:ext cx="60660663" cy="23328657"/>
            </a:xfrm>
            <a:custGeom>
              <a:avLst/>
              <a:gdLst/>
              <a:ahLst/>
              <a:cxnLst/>
              <a:rect r="r" b="b" t="t" l="l"/>
              <a:pathLst>
                <a:path h="23328657" w="60660663">
                  <a:moveTo>
                    <a:pt x="60515884" y="23183878"/>
                  </a:moveTo>
                  <a:lnTo>
                    <a:pt x="60660663" y="23183878"/>
                  </a:lnTo>
                  <a:lnTo>
                    <a:pt x="60660663" y="23328657"/>
                  </a:lnTo>
                  <a:lnTo>
                    <a:pt x="60515884" y="23328657"/>
                  </a:lnTo>
                  <a:lnTo>
                    <a:pt x="60515884" y="23183878"/>
                  </a:lnTo>
                  <a:close/>
                  <a:moveTo>
                    <a:pt x="0" y="144780"/>
                  </a:moveTo>
                  <a:lnTo>
                    <a:pt x="144780" y="144780"/>
                  </a:lnTo>
                  <a:lnTo>
                    <a:pt x="144780" y="23183878"/>
                  </a:lnTo>
                  <a:lnTo>
                    <a:pt x="0" y="23183878"/>
                  </a:lnTo>
                  <a:lnTo>
                    <a:pt x="0" y="144780"/>
                  </a:lnTo>
                  <a:close/>
                  <a:moveTo>
                    <a:pt x="0" y="23183878"/>
                  </a:moveTo>
                  <a:lnTo>
                    <a:pt x="144780" y="23183878"/>
                  </a:lnTo>
                  <a:lnTo>
                    <a:pt x="144780" y="23328657"/>
                  </a:lnTo>
                  <a:lnTo>
                    <a:pt x="0" y="23328657"/>
                  </a:lnTo>
                  <a:lnTo>
                    <a:pt x="0" y="23183878"/>
                  </a:lnTo>
                  <a:close/>
                  <a:moveTo>
                    <a:pt x="60515884" y="144780"/>
                  </a:moveTo>
                  <a:lnTo>
                    <a:pt x="60660663" y="144780"/>
                  </a:lnTo>
                  <a:lnTo>
                    <a:pt x="60660663" y="23183878"/>
                  </a:lnTo>
                  <a:lnTo>
                    <a:pt x="60515884" y="23183878"/>
                  </a:lnTo>
                  <a:lnTo>
                    <a:pt x="60515884" y="144780"/>
                  </a:lnTo>
                  <a:close/>
                  <a:moveTo>
                    <a:pt x="144780" y="23183878"/>
                  </a:moveTo>
                  <a:lnTo>
                    <a:pt x="60515884" y="23183878"/>
                  </a:lnTo>
                  <a:lnTo>
                    <a:pt x="60515884" y="23328657"/>
                  </a:lnTo>
                  <a:lnTo>
                    <a:pt x="144780" y="23328657"/>
                  </a:lnTo>
                  <a:lnTo>
                    <a:pt x="144780" y="23183878"/>
                  </a:lnTo>
                  <a:close/>
                  <a:moveTo>
                    <a:pt x="60515884" y="0"/>
                  </a:moveTo>
                  <a:lnTo>
                    <a:pt x="60660663" y="0"/>
                  </a:lnTo>
                  <a:lnTo>
                    <a:pt x="60660663" y="144780"/>
                  </a:lnTo>
                  <a:lnTo>
                    <a:pt x="60515884" y="144780"/>
                  </a:lnTo>
                  <a:lnTo>
                    <a:pt x="60515884" y="0"/>
                  </a:lnTo>
                  <a:close/>
                  <a:moveTo>
                    <a:pt x="0" y="0"/>
                  </a:moveTo>
                  <a:lnTo>
                    <a:pt x="144780" y="0"/>
                  </a:lnTo>
                  <a:lnTo>
                    <a:pt x="144780" y="144780"/>
                  </a:lnTo>
                  <a:lnTo>
                    <a:pt x="0" y="144780"/>
                  </a:lnTo>
                  <a:lnTo>
                    <a:pt x="0" y="0"/>
                  </a:lnTo>
                  <a:close/>
                  <a:moveTo>
                    <a:pt x="144780" y="0"/>
                  </a:moveTo>
                  <a:lnTo>
                    <a:pt x="60515884" y="0"/>
                  </a:lnTo>
                  <a:lnTo>
                    <a:pt x="60515884" y="144780"/>
                  </a:lnTo>
                  <a:lnTo>
                    <a:pt x="144780" y="144780"/>
                  </a:lnTo>
                  <a:lnTo>
                    <a:pt x="144780" y="0"/>
                  </a:lnTo>
                  <a:close/>
                </a:path>
              </a:pathLst>
            </a:custGeom>
            <a:solidFill>
              <a:srgbClr val="464262"/>
            </a:solidFill>
          </p:spPr>
        </p:sp>
      </p:grpSp>
      <p:sp>
        <p:nvSpPr>
          <p:cNvPr name="AutoShape 26" id="26"/>
          <p:cNvSpPr/>
          <p:nvPr/>
        </p:nvSpPr>
        <p:spPr>
          <a:xfrm rot="0">
            <a:off x="1240638" y="249089"/>
            <a:ext cx="27883551" cy="5834355"/>
          </a:xfrm>
          <a:prstGeom prst="rect">
            <a:avLst/>
          </a:prstGeom>
          <a:solidFill>
            <a:srgbClr val="FFFFFF"/>
          </a:solidFill>
        </p:spPr>
      </p:sp>
      <p:grpSp>
        <p:nvGrpSpPr>
          <p:cNvPr name="Group 27" id="27"/>
          <p:cNvGrpSpPr/>
          <p:nvPr/>
        </p:nvGrpSpPr>
        <p:grpSpPr>
          <a:xfrm rot="0">
            <a:off x="1240638" y="249089"/>
            <a:ext cx="27883551" cy="5834355"/>
            <a:chOff x="0" y="0"/>
            <a:chExt cx="126597700" cy="26489308"/>
          </a:xfrm>
        </p:grpSpPr>
        <p:sp>
          <p:nvSpPr>
            <p:cNvPr name="Freeform 28" id="28"/>
            <p:cNvSpPr/>
            <p:nvPr/>
          </p:nvSpPr>
          <p:spPr>
            <a:xfrm flipH="false" flipV="false" rot="0">
              <a:off x="72390" y="72390"/>
              <a:ext cx="126452923" cy="26344528"/>
            </a:xfrm>
            <a:custGeom>
              <a:avLst/>
              <a:gdLst/>
              <a:ahLst/>
              <a:cxnLst/>
              <a:rect r="r" b="b" t="t" l="l"/>
              <a:pathLst>
                <a:path h="26344528" w="126452923">
                  <a:moveTo>
                    <a:pt x="0" y="0"/>
                  </a:moveTo>
                  <a:lnTo>
                    <a:pt x="126452923" y="0"/>
                  </a:lnTo>
                  <a:lnTo>
                    <a:pt x="126452923" y="26344528"/>
                  </a:lnTo>
                  <a:lnTo>
                    <a:pt x="0" y="26344528"/>
                  </a:lnTo>
                  <a:lnTo>
                    <a:pt x="0" y="0"/>
                  </a:lnTo>
                  <a:close/>
                </a:path>
              </a:pathLst>
            </a:custGeom>
          </p:spPr>
        </p:sp>
        <p:sp>
          <p:nvSpPr>
            <p:cNvPr name="Freeform 29" id="29"/>
            <p:cNvSpPr/>
            <p:nvPr/>
          </p:nvSpPr>
          <p:spPr>
            <a:xfrm flipH="false" flipV="false" rot="0">
              <a:off x="0" y="0"/>
              <a:ext cx="126597705" cy="26489307"/>
            </a:xfrm>
            <a:custGeom>
              <a:avLst/>
              <a:gdLst/>
              <a:ahLst/>
              <a:cxnLst/>
              <a:rect r="r" b="b" t="t" l="l"/>
              <a:pathLst>
                <a:path h="26489307" w="126597705">
                  <a:moveTo>
                    <a:pt x="126452920" y="26344528"/>
                  </a:moveTo>
                  <a:lnTo>
                    <a:pt x="126597705" y="26344528"/>
                  </a:lnTo>
                  <a:lnTo>
                    <a:pt x="126597705" y="26489307"/>
                  </a:lnTo>
                  <a:lnTo>
                    <a:pt x="126452920" y="26489307"/>
                  </a:lnTo>
                  <a:lnTo>
                    <a:pt x="126452920" y="26344528"/>
                  </a:lnTo>
                  <a:close/>
                  <a:moveTo>
                    <a:pt x="0" y="144780"/>
                  </a:moveTo>
                  <a:lnTo>
                    <a:pt x="144780" y="144780"/>
                  </a:lnTo>
                  <a:lnTo>
                    <a:pt x="144780" y="26344528"/>
                  </a:lnTo>
                  <a:lnTo>
                    <a:pt x="0" y="26344528"/>
                  </a:lnTo>
                  <a:lnTo>
                    <a:pt x="0" y="144780"/>
                  </a:lnTo>
                  <a:close/>
                  <a:moveTo>
                    <a:pt x="0" y="26344528"/>
                  </a:moveTo>
                  <a:lnTo>
                    <a:pt x="144780" y="26344528"/>
                  </a:lnTo>
                  <a:lnTo>
                    <a:pt x="144780" y="26489307"/>
                  </a:lnTo>
                  <a:lnTo>
                    <a:pt x="0" y="26489307"/>
                  </a:lnTo>
                  <a:lnTo>
                    <a:pt x="0" y="26344528"/>
                  </a:lnTo>
                  <a:close/>
                  <a:moveTo>
                    <a:pt x="126452920" y="144780"/>
                  </a:moveTo>
                  <a:lnTo>
                    <a:pt x="126597705" y="144780"/>
                  </a:lnTo>
                  <a:lnTo>
                    <a:pt x="126597705" y="26344528"/>
                  </a:lnTo>
                  <a:lnTo>
                    <a:pt x="126452920" y="26344528"/>
                  </a:lnTo>
                  <a:lnTo>
                    <a:pt x="126452920" y="144780"/>
                  </a:lnTo>
                  <a:close/>
                  <a:moveTo>
                    <a:pt x="144780" y="26344528"/>
                  </a:moveTo>
                  <a:lnTo>
                    <a:pt x="126452920" y="26344528"/>
                  </a:lnTo>
                  <a:lnTo>
                    <a:pt x="126452920" y="26489307"/>
                  </a:lnTo>
                  <a:lnTo>
                    <a:pt x="144780" y="26489307"/>
                  </a:lnTo>
                  <a:lnTo>
                    <a:pt x="144780" y="26344528"/>
                  </a:lnTo>
                  <a:close/>
                  <a:moveTo>
                    <a:pt x="126452920" y="0"/>
                  </a:moveTo>
                  <a:lnTo>
                    <a:pt x="126597705" y="0"/>
                  </a:lnTo>
                  <a:lnTo>
                    <a:pt x="126597705" y="144780"/>
                  </a:lnTo>
                  <a:lnTo>
                    <a:pt x="126452920" y="144780"/>
                  </a:lnTo>
                  <a:lnTo>
                    <a:pt x="126452920" y="0"/>
                  </a:lnTo>
                  <a:close/>
                  <a:moveTo>
                    <a:pt x="0" y="0"/>
                  </a:moveTo>
                  <a:lnTo>
                    <a:pt x="144780" y="0"/>
                  </a:lnTo>
                  <a:lnTo>
                    <a:pt x="144780" y="144780"/>
                  </a:lnTo>
                  <a:lnTo>
                    <a:pt x="0" y="144780"/>
                  </a:lnTo>
                  <a:lnTo>
                    <a:pt x="0" y="0"/>
                  </a:lnTo>
                  <a:close/>
                  <a:moveTo>
                    <a:pt x="144780" y="0"/>
                  </a:moveTo>
                  <a:lnTo>
                    <a:pt x="126452920" y="0"/>
                  </a:lnTo>
                  <a:lnTo>
                    <a:pt x="126452920" y="144780"/>
                  </a:lnTo>
                  <a:lnTo>
                    <a:pt x="144780" y="144780"/>
                  </a:lnTo>
                  <a:lnTo>
                    <a:pt x="144780" y="0"/>
                  </a:lnTo>
                  <a:close/>
                </a:path>
              </a:pathLst>
            </a:custGeom>
            <a:solidFill>
              <a:srgbClr val="464262"/>
            </a:solidFill>
          </p:spPr>
        </p:sp>
      </p:grpSp>
      <p:sp>
        <p:nvSpPr>
          <p:cNvPr name="AutoShape 30" id="30"/>
          <p:cNvSpPr/>
          <p:nvPr/>
        </p:nvSpPr>
        <p:spPr>
          <a:xfrm rot="0">
            <a:off x="1265786" y="16748458"/>
            <a:ext cx="13350353" cy="8537126"/>
          </a:xfrm>
          <a:prstGeom prst="rect">
            <a:avLst/>
          </a:prstGeom>
          <a:solidFill>
            <a:srgbClr val="FFFFFF"/>
          </a:solidFill>
        </p:spPr>
      </p:sp>
      <p:grpSp>
        <p:nvGrpSpPr>
          <p:cNvPr name="Group 31" id="31"/>
          <p:cNvGrpSpPr/>
          <p:nvPr/>
        </p:nvGrpSpPr>
        <p:grpSpPr>
          <a:xfrm rot="0">
            <a:off x="1265786" y="16748458"/>
            <a:ext cx="13360609" cy="8529254"/>
            <a:chOff x="0" y="0"/>
            <a:chExt cx="61028533" cy="38959891"/>
          </a:xfrm>
        </p:grpSpPr>
        <p:sp>
          <p:nvSpPr>
            <p:cNvPr name="Freeform 32" id="32"/>
            <p:cNvSpPr/>
            <p:nvPr/>
          </p:nvSpPr>
          <p:spPr>
            <a:xfrm flipH="false" flipV="false" rot="0">
              <a:off x="72390" y="72390"/>
              <a:ext cx="60883753" cy="38815112"/>
            </a:xfrm>
            <a:custGeom>
              <a:avLst/>
              <a:gdLst/>
              <a:ahLst/>
              <a:cxnLst/>
              <a:rect r="r" b="b" t="t" l="l"/>
              <a:pathLst>
                <a:path h="38815112" w="60883753">
                  <a:moveTo>
                    <a:pt x="0" y="0"/>
                  </a:moveTo>
                  <a:lnTo>
                    <a:pt x="60883753" y="0"/>
                  </a:lnTo>
                  <a:lnTo>
                    <a:pt x="60883753" y="38815112"/>
                  </a:lnTo>
                  <a:lnTo>
                    <a:pt x="0" y="38815112"/>
                  </a:lnTo>
                  <a:lnTo>
                    <a:pt x="0" y="0"/>
                  </a:lnTo>
                  <a:close/>
                </a:path>
              </a:pathLst>
            </a:custGeom>
          </p:spPr>
        </p:sp>
        <p:sp>
          <p:nvSpPr>
            <p:cNvPr name="Freeform 33" id="33"/>
            <p:cNvSpPr/>
            <p:nvPr/>
          </p:nvSpPr>
          <p:spPr>
            <a:xfrm flipH="false" flipV="false" rot="0">
              <a:off x="0" y="0"/>
              <a:ext cx="61028535" cy="38959892"/>
            </a:xfrm>
            <a:custGeom>
              <a:avLst/>
              <a:gdLst/>
              <a:ahLst/>
              <a:cxnLst/>
              <a:rect r="r" b="b" t="t" l="l"/>
              <a:pathLst>
                <a:path h="38959892" w="61028535">
                  <a:moveTo>
                    <a:pt x="60883757" y="38815110"/>
                  </a:moveTo>
                  <a:lnTo>
                    <a:pt x="61028535" y="38815110"/>
                  </a:lnTo>
                  <a:lnTo>
                    <a:pt x="61028535" y="38959892"/>
                  </a:lnTo>
                  <a:lnTo>
                    <a:pt x="60883757" y="38959892"/>
                  </a:lnTo>
                  <a:lnTo>
                    <a:pt x="60883757" y="38815110"/>
                  </a:lnTo>
                  <a:close/>
                  <a:moveTo>
                    <a:pt x="0" y="144780"/>
                  </a:moveTo>
                  <a:lnTo>
                    <a:pt x="144780" y="144780"/>
                  </a:lnTo>
                  <a:lnTo>
                    <a:pt x="144780" y="38815110"/>
                  </a:lnTo>
                  <a:lnTo>
                    <a:pt x="0" y="38815110"/>
                  </a:lnTo>
                  <a:lnTo>
                    <a:pt x="0" y="144780"/>
                  </a:lnTo>
                  <a:close/>
                  <a:moveTo>
                    <a:pt x="0" y="38815110"/>
                  </a:moveTo>
                  <a:lnTo>
                    <a:pt x="144780" y="38815110"/>
                  </a:lnTo>
                  <a:lnTo>
                    <a:pt x="144780" y="38959892"/>
                  </a:lnTo>
                  <a:lnTo>
                    <a:pt x="0" y="38959892"/>
                  </a:lnTo>
                  <a:lnTo>
                    <a:pt x="0" y="38815110"/>
                  </a:lnTo>
                  <a:close/>
                  <a:moveTo>
                    <a:pt x="60883757" y="144780"/>
                  </a:moveTo>
                  <a:lnTo>
                    <a:pt x="61028535" y="144780"/>
                  </a:lnTo>
                  <a:lnTo>
                    <a:pt x="61028535" y="38815110"/>
                  </a:lnTo>
                  <a:lnTo>
                    <a:pt x="60883757" y="38815110"/>
                  </a:lnTo>
                  <a:lnTo>
                    <a:pt x="60883757" y="144780"/>
                  </a:lnTo>
                  <a:close/>
                  <a:moveTo>
                    <a:pt x="144780" y="38815110"/>
                  </a:moveTo>
                  <a:lnTo>
                    <a:pt x="60883757" y="38815110"/>
                  </a:lnTo>
                  <a:lnTo>
                    <a:pt x="60883757" y="38959892"/>
                  </a:lnTo>
                  <a:lnTo>
                    <a:pt x="144780" y="38959892"/>
                  </a:lnTo>
                  <a:lnTo>
                    <a:pt x="144780" y="38815110"/>
                  </a:lnTo>
                  <a:close/>
                  <a:moveTo>
                    <a:pt x="60883757" y="0"/>
                  </a:moveTo>
                  <a:lnTo>
                    <a:pt x="61028535" y="0"/>
                  </a:lnTo>
                  <a:lnTo>
                    <a:pt x="61028535" y="144780"/>
                  </a:lnTo>
                  <a:lnTo>
                    <a:pt x="60883757" y="144780"/>
                  </a:lnTo>
                  <a:lnTo>
                    <a:pt x="60883757" y="0"/>
                  </a:lnTo>
                  <a:close/>
                  <a:moveTo>
                    <a:pt x="0" y="0"/>
                  </a:moveTo>
                  <a:lnTo>
                    <a:pt x="144780" y="0"/>
                  </a:lnTo>
                  <a:lnTo>
                    <a:pt x="144780" y="144780"/>
                  </a:lnTo>
                  <a:lnTo>
                    <a:pt x="0" y="144780"/>
                  </a:lnTo>
                  <a:lnTo>
                    <a:pt x="0" y="0"/>
                  </a:lnTo>
                  <a:close/>
                  <a:moveTo>
                    <a:pt x="144780" y="0"/>
                  </a:moveTo>
                  <a:lnTo>
                    <a:pt x="60883757" y="0"/>
                  </a:lnTo>
                  <a:lnTo>
                    <a:pt x="60883757" y="144780"/>
                  </a:lnTo>
                  <a:lnTo>
                    <a:pt x="144780" y="144780"/>
                  </a:lnTo>
                  <a:lnTo>
                    <a:pt x="144780" y="0"/>
                  </a:lnTo>
                  <a:close/>
                </a:path>
              </a:pathLst>
            </a:custGeom>
            <a:solidFill>
              <a:srgbClr val="464262"/>
            </a:solidFill>
          </p:spPr>
        </p:sp>
      </p:grpSp>
      <p:sp>
        <p:nvSpPr>
          <p:cNvPr name="Freeform 34" id="34"/>
          <p:cNvSpPr/>
          <p:nvPr/>
        </p:nvSpPr>
        <p:spPr>
          <a:xfrm flipH="false" flipV="false" rot="0">
            <a:off x="1695551" y="1106675"/>
            <a:ext cx="3851479" cy="3841850"/>
          </a:xfrm>
          <a:custGeom>
            <a:avLst/>
            <a:gdLst/>
            <a:ahLst/>
            <a:cxnLst/>
            <a:rect r="r" b="b" t="t" l="l"/>
            <a:pathLst>
              <a:path h="3841850" w="3851479">
                <a:moveTo>
                  <a:pt x="0" y="0"/>
                </a:moveTo>
                <a:lnTo>
                  <a:pt x="3851479" y="0"/>
                </a:lnTo>
                <a:lnTo>
                  <a:pt x="3851479" y="3841850"/>
                </a:lnTo>
                <a:lnTo>
                  <a:pt x="0" y="3841850"/>
                </a:lnTo>
                <a:lnTo>
                  <a:pt x="0" y="0"/>
                </a:lnTo>
                <a:close/>
              </a:path>
            </a:pathLst>
          </a:custGeom>
          <a:blipFill>
            <a:blip r:embed="rId2"/>
            <a:stretch>
              <a:fillRect l="0" t="0" r="0" b="0"/>
            </a:stretch>
          </a:blipFill>
        </p:spPr>
      </p:sp>
      <p:sp>
        <p:nvSpPr>
          <p:cNvPr name="TextBox 35" id="35"/>
          <p:cNvSpPr txBox="true"/>
          <p:nvPr/>
        </p:nvSpPr>
        <p:spPr>
          <a:xfrm rot="0">
            <a:off x="1286176" y="747531"/>
            <a:ext cx="27745897" cy="2680767"/>
          </a:xfrm>
          <a:prstGeom prst="rect">
            <a:avLst/>
          </a:prstGeom>
        </p:spPr>
        <p:txBody>
          <a:bodyPr anchor="t" rtlCol="false" tIns="0" lIns="0" bIns="0" rIns="0">
            <a:spAutoFit/>
          </a:bodyPr>
          <a:lstStyle/>
          <a:p>
            <a:pPr algn="ctr">
              <a:lnSpc>
                <a:spcPts val="6925"/>
              </a:lnSpc>
            </a:pPr>
            <a:r>
              <a:rPr lang="en-US" b="true" sz="6925" u="sng">
                <a:solidFill>
                  <a:srgbClr val="464262"/>
                </a:solidFill>
                <a:latin typeface="Be Vietnam Ultra-Bold"/>
                <a:ea typeface="Be Vietnam Ultra-Bold"/>
                <a:cs typeface="Be Vietnam Ultra-Bold"/>
                <a:sym typeface="Be Vietnam Ultra-Bold"/>
              </a:rPr>
              <a:t>Impa</a:t>
            </a:r>
            <a:r>
              <a:rPr lang="en-US" b="true" sz="6925" u="sng">
                <a:solidFill>
                  <a:srgbClr val="464262"/>
                </a:solidFill>
                <a:latin typeface="Be Vietnam Ultra-Bold"/>
                <a:ea typeface="Be Vietnam Ultra-Bold"/>
                <a:cs typeface="Be Vietnam Ultra-Bold"/>
                <a:sym typeface="Be Vietnam Ultra-Bold"/>
              </a:rPr>
              <a:t>ct of Residual Error Handling </a:t>
            </a:r>
          </a:p>
          <a:p>
            <a:pPr algn="ctr">
              <a:lnSpc>
                <a:spcPts val="6925"/>
              </a:lnSpc>
            </a:pPr>
            <a:r>
              <a:rPr lang="en-US" b="true" sz="6925" u="sng">
                <a:solidFill>
                  <a:srgbClr val="464262"/>
                </a:solidFill>
                <a:latin typeface="Be Vietnam Ultra-Bold"/>
                <a:ea typeface="Be Vietnam Ultra-Bold"/>
                <a:cs typeface="Be Vietnam Ultra-Bold"/>
                <a:sym typeface="Be Vietnam Ultra-Bold"/>
              </a:rPr>
              <a:t>on Model Informed Precision Dosing </a:t>
            </a:r>
          </a:p>
          <a:p>
            <a:pPr algn="ctr">
              <a:lnSpc>
                <a:spcPts val="6925"/>
              </a:lnSpc>
            </a:pPr>
            <a:r>
              <a:rPr lang="en-US" b="true" sz="6925" u="sng">
                <a:solidFill>
                  <a:srgbClr val="464262"/>
                </a:solidFill>
                <a:latin typeface="Be Vietnam Ultra-Bold"/>
                <a:ea typeface="Be Vietnam Ultra-Bold"/>
                <a:cs typeface="Be Vietnam Ultra-Bold"/>
                <a:sym typeface="Be Vietnam Ultra-Bold"/>
              </a:rPr>
              <a:t>and AUC Calculation</a:t>
            </a:r>
          </a:p>
        </p:txBody>
      </p:sp>
      <p:sp>
        <p:nvSpPr>
          <p:cNvPr name="Freeform 36" id="36"/>
          <p:cNvSpPr/>
          <p:nvPr/>
        </p:nvSpPr>
        <p:spPr>
          <a:xfrm flipH="false" flipV="false" rot="0">
            <a:off x="24621484" y="1022107"/>
            <a:ext cx="3925235" cy="2144160"/>
          </a:xfrm>
          <a:custGeom>
            <a:avLst/>
            <a:gdLst/>
            <a:ahLst/>
            <a:cxnLst/>
            <a:rect r="r" b="b" t="t" l="l"/>
            <a:pathLst>
              <a:path h="2144160" w="3925235">
                <a:moveTo>
                  <a:pt x="0" y="0"/>
                </a:moveTo>
                <a:lnTo>
                  <a:pt x="3925235" y="0"/>
                </a:lnTo>
                <a:lnTo>
                  <a:pt x="3925235" y="2144160"/>
                </a:lnTo>
                <a:lnTo>
                  <a:pt x="0" y="2144160"/>
                </a:lnTo>
                <a:lnTo>
                  <a:pt x="0" y="0"/>
                </a:lnTo>
                <a:close/>
              </a:path>
            </a:pathLst>
          </a:custGeom>
          <a:blipFill>
            <a:blip r:embed="rId3"/>
            <a:stretch>
              <a:fillRect l="0" t="0" r="0" b="0"/>
            </a:stretch>
          </a:blipFill>
        </p:spPr>
      </p:sp>
      <p:sp>
        <p:nvSpPr>
          <p:cNvPr name="Freeform 37" id="37"/>
          <p:cNvSpPr/>
          <p:nvPr/>
        </p:nvSpPr>
        <p:spPr>
          <a:xfrm flipH="false" flipV="false" rot="0">
            <a:off x="24621484" y="3844123"/>
            <a:ext cx="3925235" cy="1267093"/>
          </a:xfrm>
          <a:custGeom>
            <a:avLst/>
            <a:gdLst/>
            <a:ahLst/>
            <a:cxnLst/>
            <a:rect r="r" b="b" t="t" l="l"/>
            <a:pathLst>
              <a:path h="1267093" w="3925235">
                <a:moveTo>
                  <a:pt x="0" y="0"/>
                </a:moveTo>
                <a:lnTo>
                  <a:pt x="3925235" y="0"/>
                </a:lnTo>
                <a:lnTo>
                  <a:pt x="3925235" y="1267094"/>
                </a:lnTo>
                <a:lnTo>
                  <a:pt x="0" y="1267094"/>
                </a:lnTo>
                <a:lnTo>
                  <a:pt x="0" y="0"/>
                </a:lnTo>
                <a:close/>
              </a:path>
            </a:pathLst>
          </a:custGeom>
          <a:blipFill>
            <a:blip r:embed="rId4"/>
            <a:stretch>
              <a:fillRect l="0" t="0" r="0" b="0"/>
            </a:stretch>
          </a:blipFill>
        </p:spPr>
      </p:sp>
      <p:sp>
        <p:nvSpPr>
          <p:cNvPr name="AutoShape 38" id="38"/>
          <p:cNvSpPr/>
          <p:nvPr/>
        </p:nvSpPr>
        <p:spPr>
          <a:xfrm rot="0">
            <a:off x="1281078" y="12230455"/>
            <a:ext cx="13350511" cy="3698279"/>
          </a:xfrm>
          <a:prstGeom prst="rect">
            <a:avLst/>
          </a:prstGeom>
          <a:solidFill>
            <a:srgbClr val="FFFFFF"/>
          </a:solidFill>
        </p:spPr>
      </p:sp>
      <p:grpSp>
        <p:nvGrpSpPr>
          <p:cNvPr name="Group 39" id="39"/>
          <p:cNvGrpSpPr/>
          <p:nvPr/>
        </p:nvGrpSpPr>
        <p:grpSpPr>
          <a:xfrm rot="0">
            <a:off x="1270884" y="12220355"/>
            <a:ext cx="13360706" cy="3718478"/>
            <a:chOff x="0" y="0"/>
            <a:chExt cx="60660662" cy="16882742"/>
          </a:xfrm>
        </p:grpSpPr>
        <p:sp>
          <p:nvSpPr>
            <p:cNvPr name="Freeform 40" id="40"/>
            <p:cNvSpPr/>
            <p:nvPr/>
          </p:nvSpPr>
          <p:spPr>
            <a:xfrm flipH="false" flipV="false" rot="0">
              <a:off x="72390" y="72390"/>
              <a:ext cx="60515881" cy="16737962"/>
            </a:xfrm>
            <a:custGeom>
              <a:avLst/>
              <a:gdLst/>
              <a:ahLst/>
              <a:cxnLst/>
              <a:rect r="r" b="b" t="t" l="l"/>
              <a:pathLst>
                <a:path h="16737962" w="60515881">
                  <a:moveTo>
                    <a:pt x="0" y="0"/>
                  </a:moveTo>
                  <a:lnTo>
                    <a:pt x="60515881" y="0"/>
                  </a:lnTo>
                  <a:lnTo>
                    <a:pt x="60515881" y="16737962"/>
                  </a:lnTo>
                  <a:lnTo>
                    <a:pt x="0" y="16737962"/>
                  </a:lnTo>
                  <a:lnTo>
                    <a:pt x="0" y="0"/>
                  </a:lnTo>
                  <a:close/>
                </a:path>
              </a:pathLst>
            </a:custGeom>
          </p:spPr>
        </p:sp>
        <p:sp>
          <p:nvSpPr>
            <p:cNvPr name="Freeform 41" id="41"/>
            <p:cNvSpPr/>
            <p:nvPr/>
          </p:nvSpPr>
          <p:spPr>
            <a:xfrm flipH="false" flipV="false" rot="0">
              <a:off x="0" y="0"/>
              <a:ext cx="60660663" cy="16882742"/>
            </a:xfrm>
            <a:custGeom>
              <a:avLst/>
              <a:gdLst/>
              <a:ahLst/>
              <a:cxnLst/>
              <a:rect r="r" b="b" t="t" l="l"/>
              <a:pathLst>
                <a:path h="16882742" w="60660663">
                  <a:moveTo>
                    <a:pt x="60515884" y="16737963"/>
                  </a:moveTo>
                  <a:lnTo>
                    <a:pt x="60660663" y="16737963"/>
                  </a:lnTo>
                  <a:lnTo>
                    <a:pt x="60660663" y="16882742"/>
                  </a:lnTo>
                  <a:lnTo>
                    <a:pt x="60515884" y="16882742"/>
                  </a:lnTo>
                  <a:lnTo>
                    <a:pt x="60515884" y="16737963"/>
                  </a:lnTo>
                  <a:close/>
                  <a:moveTo>
                    <a:pt x="0" y="144780"/>
                  </a:moveTo>
                  <a:lnTo>
                    <a:pt x="144780" y="144780"/>
                  </a:lnTo>
                  <a:lnTo>
                    <a:pt x="144780" y="16737963"/>
                  </a:lnTo>
                  <a:lnTo>
                    <a:pt x="0" y="16737963"/>
                  </a:lnTo>
                  <a:lnTo>
                    <a:pt x="0" y="144780"/>
                  </a:lnTo>
                  <a:close/>
                  <a:moveTo>
                    <a:pt x="0" y="16737963"/>
                  </a:moveTo>
                  <a:lnTo>
                    <a:pt x="144780" y="16737963"/>
                  </a:lnTo>
                  <a:lnTo>
                    <a:pt x="144780" y="16882742"/>
                  </a:lnTo>
                  <a:lnTo>
                    <a:pt x="0" y="16882742"/>
                  </a:lnTo>
                  <a:lnTo>
                    <a:pt x="0" y="16737963"/>
                  </a:lnTo>
                  <a:close/>
                  <a:moveTo>
                    <a:pt x="60515884" y="144780"/>
                  </a:moveTo>
                  <a:lnTo>
                    <a:pt x="60660663" y="144780"/>
                  </a:lnTo>
                  <a:lnTo>
                    <a:pt x="60660663" y="16737963"/>
                  </a:lnTo>
                  <a:lnTo>
                    <a:pt x="60515884" y="16737963"/>
                  </a:lnTo>
                  <a:lnTo>
                    <a:pt x="60515884" y="144780"/>
                  </a:lnTo>
                  <a:close/>
                  <a:moveTo>
                    <a:pt x="144780" y="16737963"/>
                  </a:moveTo>
                  <a:lnTo>
                    <a:pt x="60515884" y="16737963"/>
                  </a:lnTo>
                  <a:lnTo>
                    <a:pt x="60515884" y="16882742"/>
                  </a:lnTo>
                  <a:lnTo>
                    <a:pt x="144780" y="16882742"/>
                  </a:lnTo>
                  <a:lnTo>
                    <a:pt x="144780" y="16737963"/>
                  </a:lnTo>
                  <a:close/>
                  <a:moveTo>
                    <a:pt x="60515884" y="0"/>
                  </a:moveTo>
                  <a:lnTo>
                    <a:pt x="60660663" y="0"/>
                  </a:lnTo>
                  <a:lnTo>
                    <a:pt x="60660663" y="144780"/>
                  </a:lnTo>
                  <a:lnTo>
                    <a:pt x="60515884" y="144780"/>
                  </a:lnTo>
                  <a:lnTo>
                    <a:pt x="60515884" y="0"/>
                  </a:lnTo>
                  <a:close/>
                  <a:moveTo>
                    <a:pt x="0" y="0"/>
                  </a:moveTo>
                  <a:lnTo>
                    <a:pt x="144780" y="0"/>
                  </a:lnTo>
                  <a:lnTo>
                    <a:pt x="144780" y="144780"/>
                  </a:lnTo>
                  <a:lnTo>
                    <a:pt x="0" y="144780"/>
                  </a:lnTo>
                  <a:lnTo>
                    <a:pt x="0" y="0"/>
                  </a:lnTo>
                  <a:close/>
                  <a:moveTo>
                    <a:pt x="144780" y="0"/>
                  </a:moveTo>
                  <a:lnTo>
                    <a:pt x="60515884" y="0"/>
                  </a:lnTo>
                  <a:lnTo>
                    <a:pt x="60515884" y="144780"/>
                  </a:lnTo>
                  <a:lnTo>
                    <a:pt x="144780" y="144780"/>
                  </a:lnTo>
                  <a:lnTo>
                    <a:pt x="144780" y="0"/>
                  </a:lnTo>
                  <a:close/>
                </a:path>
              </a:pathLst>
            </a:custGeom>
            <a:solidFill>
              <a:srgbClr val="464262"/>
            </a:solidFill>
          </p:spPr>
        </p:sp>
      </p:grpSp>
      <p:graphicFrame>
        <p:nvGraphicFramePr>
          <p:cNvPr name="Object 42" id="42"/>
          <p:cNvGraphicFramePr/>
          <p:nvPr/>
        </p:nvGraphicFramePr>
        <p:xfrm>
          <a:off x="16048329" y="13290187"/>
          <a:ext cx="7543800" cy="3771900"/>
        </p:xfrm>
        <a:graphic>
          <a:graphicData uri="http://schemas.openxmlformats.org/presentationml/2006/ole">
            <p:oleObj imgW="9042400" imgH="5270500" r:id="rId6" progId="Excel.Sheet.12" name="Worksheet">
              <p:embed/>
              <p:pic>
                <p:nvPicPr>
                  <p:cNvPr name="" id="0"/>
                  <p:cNvPicPr/>
                  <p:nvPr/>
                </p:nvPicPr>
                <p:blipFill>
                  <a:blip r:embed="rId5"/>
                  <a:stretch>
                    <a:fillRect/>
                  </a:stretch>
                </p:blipFill>
                <p:spPr>
                  <a:xfrm>
                    <a:off x="1270000" y="1270000"/>
                    <a:ext cx="1270000" cy="1270000"/>
                  </a:xfrm>
                  <a:prstGeom prst="rect"/>
                </p:spPr>
              </p:pic>
            </p:oleObj>
          </a:graphicData>
        </a:graphic>
      </p:graphicFrame>
      <p:grpSp>
        <p:nvGrpSpPr>
          <p:cNvPr name="Group 43" id="43"/>
          <p:cNvGrpSpPr/>
          <p:nvPr/>
        </p:nvGrpSpPr>
        <p:grpSpPr>
          <a:xfrm rot="0">
            <a:off x="1245092" y="41230788"/>
            <a:ext cx="27954543" cy="1224637"/>
            <a:chOff x="0" y="0"/>
            <a:chExt cx="126920019" cy="5560134"/>
          </a:xfrm>
        </p:grpSpPr>
        <p:sp>
          <p:nvSpPr>
            <p:cNvPr name="Freeform 44" id="44"/>
            <p:cNvSpPr/>
            <p:nvPr/>
          </p:nvSpPr>
          <p:spPr>
            <a:xfrm flipH="false" flipV="false" rot="0">
              <a:off x="72390" y="72390"/>
              <a:ext cx="126775235" cy="5415354"/>
            </a:xfrm>
            <a:custGeom>
              <a:avLst/>
              <a:gdLst/>
              <a:ahLst/>
              <a:cxnLst/>
              <a:rect r="r" b="b" t="t" l="l"/>
              <a:pathLst>
                <a:path h="5415354" w="126775235">
                  <a:moveTo>
                    <a:pt x="0" y="0"/>
                  </a:moveTo>
                  <a:lnTo>
                    <a:pt x="126775235" y="0"/>
                  </a:lnTo>
                  <a:lnTo>
                    <a:pt x="126775235" y="5415354"/>
                  </a:lnTo>
                  <a:lnTo>
                    <a:pt x="0" y="5415354"/>
                  </a:lnTo>
                  <a:lnTo>
                    <a:pt x="0" y="0"/>
                  </a:lnTo>
                  <a:close/>
                </a:path>
              </a:pathLst>
            </a:custGeom>
          </p:spPr>
        </p:sp>
        <p:sp>
          <p:nvSpPr>
            <p:cNvPr name="Freeform 45" id="45"/>
            <p:cNvSpPr/>
            <p:nvPr/>
          </p:nvSpPr>
          <p:spPr>
            <a:xfrm flipH="false" flipV="false" rot="0">
              <a:off x="0" y="0"/>
              <a:ext cx="126920017" cy="5560133"/>
            </a:xfrm>
            <a:custGeom>
              <a:avLst/>
              <a:gdLst/>
              <a:ahLst/>
              <a:cxnLst/>
              <a:rect r="r" b="b" t="t" l="l"/>
              <a:pathLst>
                <a:path h="5560133" w="126920017">
                  <a:moveTo>
                    <a:pt x="126775245" y="5415354"/>
                  </a:moveTo>
                  <a:lnTo>
                    <a:pt x="126920017" y="5415354"/>
                  </a:lnTo>
                  <a:lnTo>
                    <a:pt x="126920017" y="5560133"/>
                  </a:lnTo>
                  <a:lnTo>
                    <a:pt x="126775245" y="5560133"/>
                  </a:lnTo>
                  <a:lnTo>
                    <a:pt x="126775245" y="5415354"/>
                  </a:lnTo>
                  <a:close/>
                  <a:moveTo>
                    <a:pt x="0" y="144780"/>
                  </a:moveTo>
                  <a:lnTo>
                    <a:pt x="144780" y="144780"/>
                  </a:lnTo>
                  <a:lnTo>
                    <a:pt x="144780" y="5415354"/>
                  </a:lnTo>
                  <a:lnTo>
                    <a:pt x="0" y="5415354"/>
                  </a:lnTo>
                  <a:lnTo>
                    <a:pt x="0" y="144780"/>
                  </a:lnTo>
                  <a:close/>
                  <a:moveTo>
                    <a:pt x="0" y="5415354"/>
                  </a:moveTo>
                  <a:lnTo>
                    <a:pt x="144780" y="5415354"/>
                  </a:lnTo>
                  <a:lnTo>
                    <a:pt x="144780" y="5560133"/>
                  </a:lnTo>
                  <a:lnTo>
                    <a:pt x="0" y="5560133"/>
                  </a:lnTo>
                  <a:lnTo>
                    <a:pt x="0" y="5415354"/>
                  </a:lnTo>
                  <a:close/>
                  <a:moveTo>
                    <a:pt x="126775245" y="144780"/>
                  </a:moveTo>
                  <a:lnTo>
                    <a:pt x="126920017" y="144780"/>
                  </a:lnTo>
                  <a:lnTo>
                    <a:pt x="126920017" y="5415354"/>
                  </a:lnTo>
                  <a:lnTo>
                    <a:pt x="126775245" y="5415354"/>
                  </a:lnTo>
                  <a:lnTo>
                    <a:pt x="126775245" y="144780"/>
                  </a:lnTo>
                  <a:close/>
                  <a:moveTo>
                    <a:pt x="144780" y="5415354"/>
                  </a:moveTo>
                  <a:lnTo>
                    <a:pt x="126775245" y="5415354"/>
                  </a:lnTo>
                  <a:lnTo>
                    <a:pt x="126775245" y="5560133"/>
                  </a:lnTo>
                  <a:lnTo>
                    <a:pt x="144780" y="5560133"/>
                  </a:lnTo>
                  <a:lnTo>
                    <a:pt x="144780" y="5415354"/>
                  </a:lnTo>
                  <a:close/>
                  <a:moveTo>
                    <a:pt x="126775245" y="0"/>
                  </a:moveTo>
                  <a:lnTo>
                    <a:pt x="126920017" y="0"/>
                  </a:lnTo>
                  <a:lnTo>
                    <a:pt x="126920017" y="144780"/>
                  </a:lnTo>
                  <a:lnTo>
                    <a:pt x="126775245" y="144780"/>
                  </a:lnTo>
                  <a:lnTo>
                    <a:pt x="126775245" y="0"/>
                  </a:lnTo>
                  <a:close/>
                  <a:moveTo>
                    <a:pt x="0" y="0"/>
                  </a:moveTo>
                  <a:lnTo>
                    <a:pt x="144780" y="0"/>
                  </a:lnTo>
                  <a:lnTo>
                    <a:pt x="144780" y="144780"/>
                  </a:lnTo>
                  <a:lnTo>
                    <a:pt x="0" y="144780"/>
                  </a:lnTo>
                  <a:lnTo>
                    <a:pt x="0" y="0"/>
                  </a:lnTo>
                  <a:close/>
                  <a:moveTo>
                    <a:pt x="144780" y="0"/>
                  </a:moveTo>
                  <a:lnTo>
                    <a:pt x="126775245" y="0"/>
                  </a:lnTo>
                  <a:lnTo>
                    <a:pt x="126775245" y="144780"/>
                  </a:lnTo>
                  <a:lnTo>
                    <a:pt x="144780" y="144780"/>
                  </a:lnTo>
                  <a:lnTo>
                    <a:pt x="144780" y="0"/>
                  </a:lnTo>
                  <a:close/>
                </a:path>
              </a:pathLst>
            </a:custGeom>
            <a:solidFill>
              <a:srgbClr val="464262"/>
            </a:solidFill>
          </p:spPr>
        </p:sp>
      </p:grpSp>
      <p:sp>
        <p:nvSpPr>
          <p:cNvPr name="Freeform 46" id="46"/>
          <p:cNvSpPr/>
          <p:nvPr/>
        </p:nvSpPr>
        <p:spPr>
          <a:xfrm flipH="false" flipV="false" rot="0">
            <a:off x="1331511" y="28756108"/>
            <a:ext cx="7213091" cy="7213091"/>
          </a:xfrm>
          <a:custGeom>
            <a:avLst/>
            <a:gdLst/>
            <a:ahLst/>
            <a:cxnLst/>
            <a:rect r="r" b="b" t="t" l="l"/>
            <a:pathLst>
              <a:path h="7213091" w="7213091">
                <a:moveTo>
                  <a:pt x="0" y="0"/>
                </a:moveTo>
                <a:lnTo>
                  <a:pt x="7213091" y="0"/>
                </a:lnTo>
                <a:lnTo>
                  <a:pt x="7213091" y="7213091"/>
                </a:lnTo>
                <a:lnTo>
                  <a:pt x="0" y="7213091"/>
                </a:lnTo>
                <a:lnTo>
                  <a:pt x="0" y="0"/>
                </a:lnTo>
                <a:close/>
              </a:path>
            </a:pathLst>
          </a:custGeom>
          <a:blipFill>
            <a:blip r:embed="rId7"/>
            <a:stretch>
              <a:fillRect l="0" t="0" r="0" b="0"/>
            </a:stretch>
          </a:blipFill>
        </p:spPr>
      </p:sp>
      <p:sp>
        <p:nvSpPr>
          <p:cNvPr name="Freeform 47" id="47"/>
          <p:cNvSpPr/>
          <p:nvPr/>
        </p:nvSpPr>
        <p:spPr>
          <a:xfrm flipH="false" flipV="false" rot="0">
            <a:off x="8493509" y="28773069"/>
            <a:ext cx="7186605" cy="3593303"/>
          </a:xfrm>
          <a:custGeom>
            <a:avLst/>
            <a:gdLst/>
            <a:ahLst/>
            <a:cxnLst/>
            <a:rect r="r" b="b" t="t" l="l"/>
            <a:pathLst>
              <a:path h="3593303" w="7186605">
                <a:moveTo>
                  <a:pt x="0" y="0"/>
                </a:moveTo>
                <a:lnTo>
                  <a:pt x="7186605" y="0"/>
                </a:lnTo>
                <a:lnTo>
                  <a:pt x="7186605" y="3593302"/>
                </a:lnTo>
                <a:lnTo>
                  <a:pt x="0" y="3593302"/>
                </a:lnTo>
                <a:lnTo>
                  <a:pt x="0" y="0"/>
                </a:lnTo>
                <a:close/>
              </a:path>
            </a:pathLst>
          </a:custGeom>
          <a:blipFill>
            <a:blip r:embed="rId8"/>
            <a:stretch>
              <a:fillRect l="0" t="0" r="0" b="0"/>
            </a:stretch>
          </a:blipFill>
        </p:spPr>
      </p:sp>
      <p:sp>
        <p:nvSpPr>
          <p:cNvPr name="Freeform 48" id="48"/>
          <p:cNvSpPr/>
          <p:nvPr/>
        </p:nvSpPr>
        <p:spPr>
          <a:xfrm flipH="false" flipV="false" rot="0">
            <a:off x="8493509" y="32375896"/>
            <a:ext cx="7186605" cy="3593303"/>
          </a:xfrm>
          <a:custGeom>
            <a:avLst/>
            <a:gdLst/>
            <a:ahLst/>
            <a:cxnLst/>
            <a:rect r="r" b="b" t="t" l="l"/>
            <a:pathLst>
              <a:path h="3593303" w="7186605">
                <a:moveTo>
                  <a:pt x="0" y="0"/>
                </a:moveTo>
                <a:lnTo>
                  <a:pt x="7186605" y="0"/>
                </a:lnTo>
                <a:lnTo>
                  <a:pt x="7186605" y="3593303"/>
                </a:lnTo>
                <a:lnTo>
                  <a:pt x="0" y="3593303"/>
                </a:lnTo>
                <a:lnTo>
                  <a:pt x="0" y="0"/>
                </a:lnTo>
                <a:close/>
              </a:path>
            </a:pathLst>
          </a:custGeom>
          <a:blipFill>
            <a:blip r:embed="rId9"/>
            <a:stretch>
              <a:fillRect l="0" t="0" r="0" b="0"/>
            </a:stretch>
          </a:blipFill>
        </p:spPr>
      </p:sp>
      <p:sp>
        <p:nvSpPr>
          <p:cNvPr name="AutoShape 49" id="49"/>
          <p:cNvSpPr/>
          <p:nvPr/>
        </p:nvSpPr>
        <p:spPr>
          <a:xfrm rot="0">
            <a:off x="12533352" y="36872187"/>
            <a:ext cx="9159475" cy="4177625"/>
          </a:xfrm>
          <a:prstGeom prst="rect">
            <a:avLst/>
          </a:prstGeom>
          <a:solidFill>
            <a:srgbClr val="FFFFFF"/>
          </a:solidFill>
        </p:spPr>
      </p:sp>
      <p:grpSp>
        <p:nvGrpSpPr>
          <p:cNvPr name="Group 50" id="50"/>
          <p:cNvGrpSpPr/>
          <p:nvPr/>
        </p:nvGrpSpPr>
        <p:grpSpPr>
          <a:xfrm rot="0">
            <a:off x="12533352" y="36846345"/>
            <a:ext cx="9159475" cy="4203468"/>
            <a:chOff x="0" y="0"/>
            <a:chExt cx="41586113" cy="19084705"/>
          </a:xfrm>
        </p:grpSpPr>
        <p:sp>
          <p:nvSpPr>
            <p:cNvPr name="Freeform 51" id="51"/>
            <p:cNvSpPr/>
            <p:nvPr/>
          </p:nvSpPr>
          <p:spPr>
            <a:xfrm flipH="false" flipV="false" rot="0">
              <a:off x="72390" y="72390"/>
              <a:ext cx="41441333" cy="18939925"/>
            </a:xfrm>
            <a:custGeom>
              <a:avLst/>
              <a:gdLst/>
              <a:ahLst/>
              <a:cxnLst/>
              <a:rect r="r" b="b" t="t" l="l"/>
              <a:pathLst>
                <a:path h="18939925" w="41441333">
                  <a:moveTo>
                    <a:pt x="0" y="0"/>
                  </a:moveTo>
                  <a:lnTo>
                    <a:pt x="41441333" y="0"/>
                  </a:lnTo>
                  <a:lnTo>
                    <a:pt x="41441333" y="18939925"/>
                  </a:lnTo>
                  <a:lnTo>
                    <a:pt x="0" y="18939925"/>
                  </a:lnTo>
                  <a:lnTo>
                    <a:pt x="0" y="0"/>
                  </a:lnTo>
                  <a:close/>
                </a:path>
              </a:pathLst>
            </a:custGeom>
          </p:spPr>
        </p:sp>
        <p:sp>
          <p:nvSpPr>
            <p:cNvPr name="Freeform 52" id="52"/>
            <p:cNvSpPr/>
            <p:nvPr/>
          </p:nvSpPr>
          <p:spPr>
            <a:xfrm flipH="false" flipV="false" rot="0">
              <a:off x="0" y="0"/>
              <a:ext cx="41586113" cy="19084705"/>
            </a:xfrm>
            <a:custGeom>
              <a:avLst/>
              <a:gdLst/>
              <a:ahLst/>
              <a:cxnLst/>
              <a:rect r="r" b="b" t="t" l="l"/>
              <a:pathLst>
                <a:path h="19084705" w="41586113">
                  <a:moveTo>
                    <a:pt x="41441334" y="18939925"/>
                  </a:moveTo>
                  <a:lnTo>
                    <a:pt x="41586113" y="18939925"/>
                  </a:lnTo>
                  <a:lnTo>
                    <a:pt x="41586113" y="19084705"/>
                  </a:lnTo>
                  <a:lnTo>
                    <a:pt x="41441334" y="19084705"/>
                  </a:lnTo>
                  <a:lnTo>
                    <a:pt x="41441334" y="18939925"/>
                  </a:lnTo>
                  <a:close/>
                  <a:moveTo>
                    <a:pt x="0" y="144780"/>
                  </a:moveTo>
                  <a:lnTo>
                    <a:pt x="144780" y="144780"/>
                  </a:lnTo>
                  <a:lnTo>
                    <a:pt x="144780" y="18939925"/>
                  </a:lnTo>
                  <a:lnTo>
                    <a:pt x="0" y="18939925"/>
                  </a:lnTo>
                  <a:lnTo>
                    <a:pt x="0" y="144780"/>
                  </a:lnTo>
                  <a:close/>
                  <a:moveTo>
                    <a:pt x="0" y="18939925"/>
                  </a:moveTo>
                  <a:lnTo>
                    <a:pt x="144780" y="18939925"/>
                  </a:lnTo>
                  <a:lnTo>
                    <a:pt x="144780" y="19084705"/>
                  </a:lnTo>
                  <a:lnTo>
                    <a:pt x="0" y="19084705"/>
                  </a:lnTo>
                  <a:lnTo>
                    <a:pt x="0" y="18939925"/>
                  </a:lnTo>
                  <a:close/>
                  <a:moveTo>
                    <a:pt x="41441334" y="144780"/>
                  </a:moveTo>
                  <a:lnTo>
                    <a:pt x="41586113" y="144780"/>
                  </a:lnTo>
                  <a:lnTo>
                    <a:pt x="41586113" y="18939925"/>
                  </a:lnTo>
                  <a:lnTo>
                    <a:pt x="41441334" y="18939925"/>
                  </a:lnTo>
                  <a:lnTo>
                    <a:pt x="41441334" y="144780"/>
                  </a:lnTo>
                  <a:close/>
                  <a:moveTo>
                    <a:pt x="144780" y="18939925"/>
                  </a:moveTo>
                  <a:lnTo>
                    <a:pt x="41441334" y="18939925"/>
                  </a:lnTo>
                  <a:lnTo>
                    <a:pt x="41441334" y="19084705"/>
                  </a:lnTo>
                  <a:lnTo>
                    <a:pt x="144780" y="19084705"/>
                  </a:lnTo>
                  <a:lnTo>
                    <a:pt x="144780" y="18939925"/>
                  </a:lnTo>
                  <a:close/>
                  <a:moveTo>
                    <a:pt x="41441334" y="0"/>
                  </a:moveTo>
                  <a:lnTo>
                    <a:pt x="41586113" y="0"/>
                  </a:lnTo>
                  <a:lnTo>
                    <a:pt x="41586113" y="144780"/>
                  </a:lnTo>
                  <a:lnTo>
                    <a:pt x="41441334" y="144780"/>
                  </a:lnTo>
                  <a:lnTo>
                    <a:pt x="41441334" y="0"/>
                  </a:lnTo>
                  <a:close/>
                  <a:moveTo>
                    <a:pt x="0" y="0"/>
                  </a:moveTo>
                  <a:lnTo>
                    <a:pt x="144780" y="0"/>
                  </a:lnTo>
                  <a:lnTo>
                    <a:pt x="144780" y="144780"/>
                  </a:lnTo>
                  <a:lnTo>
                    <a:pt x="0" y="144780"/>
                  </a:lnTo>
                  <a:lnTo>
                    <a:pt x="0" y="0"/>
                  </a:lnTo>
                  <a:close/>
                  <a:moveTo>
                    <a:pt x="144780" y="0"/>
                  </a:moveTo>
                  <a:lnTo>
                    <a:pt x="41441334" y="0"/>
                  </a:lnTo>
                  <a:lnTo>
                    <a:pt x="41441334" y="144780"/>
                  </a:lnTo>
                  <a:lnTo>
                    <a:pt x="144780" y="144780"/>
                  </a:lnTo>
                  <a:lnTo>
                    <a:pt x="144780" y="0"/>
                  </a:lnTo>
                  <a:close/>
                </a:path>
              </a:pathLst>
            </a:custGeom>
            <a:solidFill>
              <a:srgbClr val="464262"/>
            </a:solidFill>
          </p:spPr>
        </p:sp>
      </p:grpSp>
      <p:sp>
        <p:nvSpPr>
          <p:cNvPr name="Freeform 53" id="53"/>
          <p:cNvSpPr/>
          <p:nvPr/>
        </p:nvSpPr>
        <p:spPr>
          <a:xfrm flipH="false" flipV="false" rot="0">
            <a:off x="17257683" y="28536809"/>
            <a:ext cx="11138772" cy="5569386"/>
          </a:xfrm>
          <a:custGeom>
            <a:avLst/>
            <a:gdLst/>
            <a:ahLst/>
            <a:cxnLst/>
            <a:rect r="r" b="b" t="t" l="l"/>
            <a:pathLst>
              <a:path h="5569386" w="11138772">
                <a:moveTo>
                  <a:pt x="0" y="0"/>
                </a:moveTo>
                <a:lnTo>
                  <a:pt x="11138772" y="0"/>
                </a:lnTo>
                <a:lnTo>
                  <a:pt x="11138772" y="5569386"/>
                </a:lnTo>
                <a:lnTo>
                  <a:pt x="0" y="5569386"/>
                </a:lnTo>
                <a:lnTo>
                  <a:pt x="0" y="0"/>
                </a:lnTo>
                <a:close/>
              </a:path>
            </a:pathLst>
          </a:custGeom>
          <a:blipFill>
            <a:blip r:embed="rId10"/>
            <a:stretch>
              <a:fillRect l="0" t="0" r="0" b="0"/>
            </a:stretch>
          </a:blipFill>
        </p:spPr>
      </p:sp>
      <p:sp>
        <p:nvSpPr>
          <p:cNvPr name="Freeform 54" id="54"/>
          <p:cNvSpPr/>
          <p:nvPr/>
        </p:nvSpPr>
        <p:spPr>
          <a:xfrm flipH="false" flipV="false" rot="0">
            <a:off x="7940962" y="18135036"/>
            <a:ext cx="6664773" cy="6664773"/>
          </a:xfrm>
          <a:custGeom>
            <a:avLst/>
            <a:gdLst/>
            <a:ahLst/>
            <a:cxnLst/>
            <a:rect r="r" b="b" t="t" l="l"/>
            <a:pathLst>
              <a:path h="6664773" w="6664773">
                <a:moveTo>
                  <a:pt x="0" y="0"/>
                </a:moveTo>
                <a:lnTo>
                  <a:pt x="6664774" y="0"/>
                </a:lnTo>
                <a:lnTo>
                  <a:pt x="6664774" y="6664773"/>
                </a:lnTo>
                <a:lnTo>
                  <a:pt x="0" y="6664773"/>
                </a:lnTo>
                <a:lnTo>
                  <a:pt x="0" y="0"/>
                </a:lnTo>
                <a:close/>
              </a:path>
            </a:pathLst>
          </a:custGeom>
          <a:blipFill>
            <a:blip r:embed="rId11"/>
            <a:stretch>
              <a:fillRect l="0" t="0" r="0" b="0"/>
            </a:stretch>
          </a:blipFill>
        </p:spPr>
      </p:sp>
      <p:sp>
        <p:nvSpPr>
          <p:cNvPr name="Freeform 55" id="55"/>
          <p:cNvSpPr/>
          <p:nvPr/>
        </p:nvSpPr>
        <p:spPr>
          <a:xfrm flipH="false" flipV="false" rot="0">
            <a:off x="1286176" y="18164748"/>
            <a:ext cx="6664773" cy="6664773"/>
          </a:xfrm>
          <a:custGeom>
            <a:avLst/>
            <a:gdLst/>
            <a:ahLst/>
            <a:cxnLst/>
            <a:rect r="r" b="b" t="t" l="l"/>
            <a:pathLst>
              <a:path h="6664773" w="6664773">
                <a:moveTo>
                  <a:pt x="0" y="0"/>
                </a:moveTo>
                <a:lnTo>
                  <a:pt x="6664773" y="0"/>
                </a:lnTo>
                <a:lnTo>
                  <a:pt x="6664773" y="6664774"/>
                </a:lnTo>
                <a:lnTo>
                  <a:pt x="0" y="6664774"/>
                </a:lnTo>
                <a:lnTo>
                  <a:pt x="0" y="0"/>
                </a:lnTo>
                <a:close/>
              </a:path>
            </a:pathLst>
          </a:custGeom>
          <a:blipFill>
            <a:blip r:embed="rId12"/>
            <a:stretch>
              <a:fillRect l="0" t="0" r="0" b="0"/>
            </a:stretch>
          </a:blipFill>
        </p:spPr>
      </p:sp>
      <p:sp>
        <p:nvSpPr>
          <p:cNvPr name="TextBox 56" id="56"/>
          <p:cNvSpPr txBox="true"/>
          <p:nvPr/>
        </p:nvSpPr>
        <p:spPr>
          <a:xfrm rot="0">
            <a:off x="1331511" y="41287938"/>
            <a:ext cx="12708130" cy="373928"/>
          </a:xfrm>
          <a:prstGeom prst="rect">
            <a:avLst/>
          </a:prstGeom>
        </p:spPr>
        <p:txBody>
          <a:bodyPr anchor="t" rtlCol="false" tIns="0" lIns="0" bIns="0" rIns="0">
            <a:spAutoFit/>
          </a:bodyPr>
          <a:lstStyle/>
          <a:p>
            <a:pPr algn="l" marL="0" indent="0" lvl="0">
              <a:lnSpc>
                <a:spcPts val="3014"/>
              </a:lnSpc>
              <a:spcBef>
                <a:spcPct val="0"/>
              </a:spcBef>
            </a:pPr>
            <a:r>
              <a:rPr lang="en-US" b="true" sz="2153" u="sng">
                <a:solidFill>
                  <a:srgbClr val="464262"/>
                </a:solidFill>
                <a:latin typeface="Be Vietnam Ultra-Bold"/>
                <a:ea typeface="Be Vietnam Ultra-Bold"/>
                <a:cs typeface="Be Vietnam Ultra-Bold"/>
                <a:sym typeface="Be Vietnam Ultra-Bold"/>
              </a:rPr>
              <a:t>Related Literature</a:t>
            </a:r>
          </a:p>
        </p:txBody>
      </p:sp>
      <p:sp>
        <p:nvSpPr>
          <p:cNvPr name="TextBox 57" id="57"/>
          <p:cNvSpPr txBox="true"/>
          <p:nvPr/>
        </p:nvSpPr>
        <p:spPr>
          <a:xfrm rot="0">
            <a:off x="1331511" y="41621313"/>
            <a:ext cx="10259161" cy="701600"/>
          </a:xfrm>
          <a:prstGeom prst="rect">
            <a:avLst/>
          </a:prstGeom>
        </p:spPr>
        <p:txBody>
          <a:bodyPr anchor="t" rtlCol="false" tIns="0" lIns="0" bIns="0" rIns="0">
            <a:spAutoFit/>
          </a:bodyPr>
          <a:lstStyle/>
          <a:p>
            <a:pPr algn="l" marL="0" indent="0" lvl="0">
              <a:lnSpc>
                <a:spcPts val="2804"/>
              </a:lnSpc>
              <a:spcBef>
                <a:spcPct val="0"/>
              </a:spcBef>
            </a:pPr>
            <a:r>
              <a:rPr lang="en-US" sz="2002">
                <a:solidFill>
                  <a:srgbClr val="464262"/>
                </a:solidFill>
                <a:latin typeface="Be Vietnam"/>
                <a:ea typeface="Be Vietnam"/>
                <a:cs typeface="Be Vietnam"/>
                <a:sym typeface="Be Vietnam"/>
              </a:rPr>
              <a:t>Tacrolimus Model (1): </a:t>
            </a:r>
            <a:r>
              <a:rPr lang="en-US" sz="2002" u="none">
                <a:solidFill>
                  <a:srgbClr val="464262"/>
                </a:solidFill>
                <a:latin typeface="Be Vietnam"/>
                <a:ea typeface="Be Vietnam"/>
                <a:cs typeface="Be Vietnam"/>
                <a:sym typeface="Be Vietnam"/>
              </a:rPr>
              <a:t>Woillard JB et al. Br J Clin Pharmacol. 2011;71(3):391–402.</a:t>
            </a:r>
          </a:p>
          <a:p>
            <a:pPr algn="l" marL="0" indent="0" lvl="0">
              <a:lnSpc>
                <a:spcPts val="2804"/>
              </a:lnSpc>
              <a:spcBef>
                <a:spcPct val="0"/>
              </a:spcBef>
            </a:pPr>
            <a:r>
              <a:rPr lang="en-US" sz="2002" u="none">
                <a:solidFill>
                  <a:srgbClr val="464262"/>
                </a:solidFill>
                <a:latin typeface="Be Vietnam"/>
                <a:ea typeface="Be Vietnam"/>
                <a:cs typeface="Be Vietnam"/>
                <a:sym typeface="Be Vietnam"/>
              </a:rPr>
              <a:t>Tacrolimus Model(2): Campagne O et al. J Clin Pharmacol. 2018;58(9):1184–95.I</a:t>
            </a:r>
          </a:p>
        </p:txBody>
      </p:sp>
      <p:sp>
        <p:nvSpPr>
          <p:cNvPr name="TextBox 58" id="58"/>
          <p:cNvSpPr txBox="true"/>
          <p:nvPr/>
        </p:nvSpPr>
        <p:spPr>
          <a:xfrm rot="0">
            <a:off x="1822332" y="36932070"/>
            <a:ext cx="7373402" cy="679450"/>
          </a:xfrm>
          <a:prstGeom prst="rect">
            <a:avLst/>
          </a:prstGeom>
        </p:spPr>
        <p:txBody>
          <a:bodyPr anchor="t" rtlCol="false" tIns="0" lIns="0" bIns="0" rIns="0">
            <a:spAutoFit/>
          </a:bodyPr>
          <a:lstStyle/>
          <a:p>
            <a:pPr algn="l">
              <a:lnSpc>
                <a:spcPts val="5599"/>
              </a:lnSpc>
            </a:pPr>
            <a:r>
              <a:rPr lang="en-US" sz="3999" b="true">
                <a:solidFill>
                  <a:srgbClr val="000000"/>
                </a:solidFill>
                <a:latin typeface="Be Vietnam Ultra-Bold"/>
                <a:ea typeface="Be Vietnam Ultra-Bold"/>
                <a:cs typeface="Be Vietnam Ultra-Bold"/>
                <a:sym typeface="Be Vietnam Ultra-Bold"/>
              </a:rPr>
              <a:t>Conclusion</a:t>
            </a:r>
          </a:p>
        </p:txBody>
      </p:sp>
      <p:sp>
        <p:nvSpPr>
          <p:cNvPr name="TextBox 59" id="59"/>
          <p:cNvSpPr txBox="true"/>
          <p:nvPr/>
        </p:nvSpPr>
        <p:spPr>
          <a:xfrm rot="0">
            <a:off x="1414497" y="37659154"/>
            <a:ext cx="10779004" cy="3181985"/>
          </a:xfrm>
          <a:prstGeom prst="rect">
            <a:avLst/>
          </a:prstGeom>
        </p:spPr>
        <p:txBody>
          <a:bodyPr anchor="t" rtlCol="false" tIns="0" lIns="0" bIns="0" rIns="0">
            <a:spAutoFit/>
          </a:bodyPr>
          <a:lstStyle/>
          <a:p>
            <a:pPr algn="just" marL="561341" indent="-280670" lvl="1">
              <a:lnSpc>
                <a:spcPts val="3640"/>
              </a:lnSpc>
              <a:buFont typeface="Arial"/>
              <a:buChar char="•"/>
            </a:pPr>
            <a:r>
              <a:rPr lang="en-US" sz="2600">
                <a:solidFill>
                  <a:srgbClr val="000000"/>
                </a:solidFill>
                <a:latin typeface="Be Vietnam"/>
                <a:ea typeface="Be Vietnam"/>
                <a:cs typeface="Be Vietnam"/>
                <a:sym typeface="Be Vietnam"/>
              </a:rPr>
              <a:t>Reducing residual error to emphasise the likelihood allows to be closer to observed data.</a:t>
            </a:r>
          </a:p>
          <a:p>
            <a:pPr algn="just" marL="561341" indent="-280670" lvl="1">
              <a:lnSpc>
                <a:spcPts val="3640"/>
              </a:lnSpc>
              <a:buFont typeface="Arial"/>
              <a:buChar char="•"/>
            </a:pPr>
            <a:r>
              <a:rPr lang="en-US" sz="2600">
                <a:solidFill>
                  <a:srgbClr val="000000"/>
                </a:solidFill>
                <a:latin typeface="Be Vietnam"/>
                <a:ea typeface="Be Vietnam"/>
                <a:cs typeface="Be Vietnam"/>
                <a:sym typeface="Be Vietnam"/>
              </a:rPr>
              <a:t>G</a:t>
            </a:r>
            <a:r>
              <a:rPr lang="en-US" sz="2600">
                <a:solidFill>
                  <a:srgbClr val="000000"/>
                </a:solidFill>
                <a:latin typeface="Be Vietnam"/>
                <a:ea typeface="Be Vietnam"/>
                <a:cs typeface="Be Vietnam"/>
                <a:sym typeface="Be Vietnam"/>
              </a:rPr>
              <a:t>iving more weight to the observed data improves the estimation of exposure.</a:t>
            </a:r>
          </a:p>
          <a:p>
            <a:pPr algn="just" marL="561341" indent="-280670" lvl="1">
              <a:lnSpc>
                <a:spcPts val="3640"/>
              </a:lnSpc>
              <a:buFont typeface="Arial"/>
              <a:buChar char="•"/>
            </a:pPr>
            <a:r>
              <a:rPr lang="en-US" sz="2600">
                <a:solidFill>
                  <a:srgbClr val="000000"/>
                </a:solidFill>
                <a:latin typeface="Be Vietnam"/>
                <a:ea typeface="Be Vietnam"/>
                <a:cs typeface="Be Vietnam"/>
                <a:sym typeface="Be Vietnam"/>
              </a:rPr>
              <a:t>Particularly effective for patients with observed data that deviate from the model population</a:t>
            </a:r>
          </a:p>
          <a:p>
            <a:pPr algn="just" marL="561341" indent="-280670" lvl="1">
              <a:lnSpc>
                <a:spcPts val="3640"/>
              </a:lnSpc>
              <a:buFont typeface="Arial"/>
              <a:buChar char="•"/>
            </a:pPr>
            <a:r>
              <a:rPr lang="en-US" sz="2600">
                <a:solidFill>
                  <a:srgbClr val="000000"/>
                </a:solidFill>
                <a:latin typeface="Be Vietnam"/>
                <a:ea typeface="Be Vietnam"/>
                <a:cs typeface="Be Vietnam"/>
                <a:sym typeface="Be Vietnam"/>
              </a:rPr>
              <a:t>A residual error of 1% seems to be the best way to do it.</a:t>
            </a:r>
          </a:p>
        </p:txBody>
      </p:sp>
      <p:sp>
        <p:nvSpPr>
          <p:cNvPr name="TextBox 60" id="60"/>
          <p:cNvSpPr txBox="true"/>
          <p:nvPr/>
        </p:nvSpPr>
        <p:spPr>
          <a:xfrm rot="0">
            <a:off x="16109359" y="6847478"/>
            <a:ext cx="11166936" cy="679450"/>
          </a:xfrm>
          <a:prstGeom prst="rect">
            <a:avLst/>
          </a:prstGeom>
        </p:spPr>
        <p:txBody>
          <a:bodyPr anchor="t" rtlCol="false" tIns="0" lIns="0" bIns="0" rIns="0">
            <a:spAutoFit/>
          </a:bodyPr>
          <a:lstStyle/>
          <a:p>
            <a:pPr algn="l" marL="0" indent="0" lvl="0">
              <a:lnSpc>
                <a:spcPts val="5599"/>
              </a:lnSpc>
              <a:spcBef>
                <a:spcPct val="0"/>
              </a:spcBef>
            </a:pPr>
            <a:r>
              <a:rPr lang="en-US" b="true" sz="3999">
                <a:solidFill>
                  <a:srgbClr val="000000"/>
                </a:solidFill>
                <a:latin typeface="Be Vietnam Ultra-Bold"/>
                <a:ea typeface="Be Vietnam Ultra-Bold"/>
                <a:cs typeface="Be Vietnam Ultra-Bold"/>
                <a:sym typeface="Be Vietnam Ultra-Bold"/>
              </a:rPr>
              <a:t>Material &amp; Methods</a:t>
            </a:r>
          </a:p>
        </p:txBody>
      </p:sp>
      <p:sp>
        <p:nvSpPr>
          <p:cNvPr name="TextBox 61" id="61"/>
          <p:cNvSpPr txBox="true"/>
          <p:nvPr/>
        </p:nvSpPr>
        <p:spPr>
          <a:xfrm rot="0">
            <a:off x="2103351" y="25780884"/>
            <a:ext cx="11164449" cy="679450"/>
          </a:xfrm>
          <a:prstGeom prst="rect">
            <a:avLst/>
          </a:prstGeom>
        </p:spPr>
        <p:txBody>
          <a:bodyPr anchor="t" rtlCol="false" tIns="0" lIns="0" bIns="0" rIns="0">
            <a:spAutoFit/>
          </a:bodyPr>
          <a:lstStyle/>
          <a:p>
            <a:pPr algn="l">
              <a:lnSpc>
                <a:spcPts val="5599"/>
              </a:lnSpc>
            </a:pPr>
            <a:r>
              <a:rPr lang="en-US" sz="3999" b="true">
                <a:solidFill>
                  <a:srgbClr val="010201"/>
                </a:solidFill>
                <a:latin typeface="Be Vietnam Ultra-Bold"/>
                <a:ea typeface="Be Vietnam Ultra-Bold"/>
                <a:cs typeface="Be Vietnam Ultra-Bold"/>
                <a:sym typeface="Be Vietnam Ultra-Bold"/>
              </a:rPr>
              <a:t>Results</a:t>
            </a:r>
          </a:p>
        </p:txBody>
      </p:sp>
      <p:sp>
        <p:nvSpPr>
          <p:cNvPr name="TextBox 62" id="62"/>
          <p:cNvSpPr txBox="true"/>
          <p:nvPr/>
        </p:nvSpPr>
        <p:spPr>
          <a:xfrm rot="0">
            <a:off x="2092637" y="26486438"/>
            <a:ext cx="13249605" cy="580489"/>
          </a:xfrm>
          <a:prstGeom prst="rect">
            <a:avLst/>
          </a:prstGeom>
        </p:spPr>
        <p:txBody>
          <a:bodyPr anchor="t" rtlCol="false" tIns="0" lIns="0" bIns="0" rIns="0">
            <a:spAutoFit/>
          </a:bodyPr>
          <a:lstStyle/>
          <a:p>
            <a:pPr algn="l">
              <a:lnSpc>
                <a:spcPts val="4754"/>
              </a:lnSpc>
            </a:pPr>
            <a:r>
              <a:rPr lang="en-US" sz="3396" b="true">
                <a:solidFill>
                  <a:srgbClr val="000000"/>
                </a:solidFill>
                <a:latin typeface="Be Vietnam Ultra-Bold"/>
                <a:ea typeface="Be Vietnam Ultra-Bold"/>
                <a:cs typeface="Be Vietnam Ultra-Bold"/>
                <a:sym typeface="Be Vietnam Ultra-Bold"/>
              </a:rPr>
              <a:t>Population level</a:t>
            </a:r>
          </a:p>
        </p:txBody>
      </p:sp>
      <p:sp>
        <p:nvSpPr>
          <p:cNvPr name="TextBox 63" id="63"/>
          <p:cNvSpPr txBox="true"/>
          <p:nvPr/>
        </p:nvSpPr>
        <p:spPr>
          <a:xfrm rot="0">
            <a:off x="1822332" y="7005564"/>
            <a:ext cx="9162276" cy="679450"/>
          </a:xfrm>
          <a:prstGeom prst="rect">
            <a:avLst/>
          </a:prstGeom>
        </p:spPr>
        <p:txBody>
          <a:bodyPr anchor="t" rtlCol="false" tIns="0" lIns="0" bIns="0" rIns="0">
            <a:spAutoFit/>
          </a:bodyPr>
          <a:lstStyle/>
          <a:p>
            <a:pPr algn="l">
              <a:lnSpc>
                <a:spcPts val="5599"/>
              </a:lnSpc>
            </a:pPr>
            <a:r>
              <a:rPr lang="en-US" sz="3999" b="true">
                <a:solidFill>
                  <a:srgbClr val="000000"/>
                </a:solidFill>
                <a:latin typeface="Be Vietnam Ultra-Bold"/>
                <a:ea typeface="Be Vietnam Ultra-Bold"/>
                <a:cs typeface="Be Vietnam Ultra-Bold"/>
                <a:sym typeface="Be Vietnam Ultra-Bold"/>
              </a:rPr>
              <a:t>Introduction</a:t>
            </a:r>
          </a:p>
        </p:txBody>
      </p:sp>
      <p:sp>
        <p:nvSpPr>
          <p:cNvPr name="TextBox 64" id="64"/>
          <p:cNvSpPr txBox="true"/>
          <p:nvPr/>
        </p:nvSpPr>
        <p:spPr>
          <a:xfrm rot="0">
            <a:off x="1767969" y="8240419"/>
            <a:ext cx="12386924" cy="3247260"/>
          </a:xfrm>
          <a:prstGeom prst="rect">
            <a:avLst/>
          </a:prstGeom>
        </p:spPr>
        <p:txBody>
          <a:bodyPr anchor="t" rtlCol="false" tIns="0" lIns="0" bIns="0" rIns="0">
            <a:spAutoFit/>
          </a:bodyPr>
          <a:lstStyle/>
          <a:p>
            <a:pPr algn="just">
              <a:lnSpc>
                <a:spcPts val="3717"/>
              </a:lnSpc>
            </a:pPr>
            <a:r>
              <a:rPr lang="en-US" sz="2655">
                <a:solidFill>
                  <a:srgbClr val="000000"/>
                </a:solidFill>
                <a:latin typeface="Be Vietnam"/>
                <a:ea typeface="Be Vietnam"/>
                <a:cs typeface="Be Vietnam"/>
                <a:sym typeface="Be Vietnam"/>
              </a:rPr>
              <a:t>Maximum A Posteriori Bayesian Estimation (MAPBE) is widely used in Therapeutic drug monitoring (TDM) to determine drug exposure (AUC). However, pharmacokinectics (PK) models are often derived from populations that may not represent current clinical settings. </a:t>
            </a:r>
          </a:p>
          <a:p>
            <a:pPr algn="just">
              <a:lnSpc>
                <a:spcPts val="3717"/>
              </a:lnSpc>
            </a:pPr>
            <a:r>
              <a:rPr lang="en-US" sz="2655">
                <a:solidFill>
                  <a:srgbClr val="000000"/>
                </a:solidFill>
                <a:latin typeface="Be Vietnam"/>
                <a:ea typeface="Be Vietnam"/>
                <a:cs typeface="Be Vietnam"/>
                <a:sym typeface="Be Vietnam"/>
              </a:rPr>
              <a:t>Recent approaches, such as hybrid models, reduce prior influence to improve individualization (Hughes et al.).</a:t>
            </a:r>
          </a:p>
          <a:p>
            <a:pPr algn="just">
              <a:lnSpc>
                <a:spcPts val="3717"/>
              </a:lnSpc>
            </a:pPr>
          </a:p>
        </p:txBody>
      </p:sp>
      <p:sp>
        <p:nvSpPr>
          <p:cNvPr name="TextBox 65" id="65"/>
          <p:cNvSpPr txBox="true"/>
          <p:nvPr/>
        </p:nvSpPr>
        <p:spPr>
          <a:xfrm rot="0">
            <a:off x="1196225" y="3527634"/>
            <a:ext cx="27883551" cy="1336261"/>
          </a:xfrm>
          <a:prstGeom prst="rect">
            <a:avLst/>
          </a:prstGeom>
        </p:spPr>
        <p:txBody>
          <a:bodyPr anchor="t" rtlCol="false" tIns="0" lIns="0" bIns="0" rIns="0">
            <a:spAutoFit/>
          </a:bodyPr>
          <a:lstStyle/>
          <a:p>
            <a:pPr algn="ctr">
              <a:lnSpc>
                <a:spcPts val="4866"/>
              </a:lnSpc>
            </a:pPr>
            <a:r>
              <a:rPr lang="en-US" sz="3476">
                <a:solidFill>
                  <a:srgbClr val="464262"/>
                </a:solidFill>
                <a:latin typeface="Be Vietnam"/>
                <a:ea typeface="Be Vietnam"/>
                <a:cs typeface="Be Vietnam"/>
                <a:sym typeface="Be Vietnam"/>
              </a:rPr>
              <a:t>Berrah R </a:t>
            </a:r>
            <a:r>
              <a:rPr lang="en-US" sz="3476">
                <a:solidFill>
                  <a:srgbClr val="464262"/>
                </a:solidFill>
                <a:latin typeface="Be Vietnam"/>
                <a:ea typeface="Be Vietnam"/>
                <a:cs typeface="Be Vietnam"/>
                <a:sym typeface="Be Vietnam"/>
              </a:rPr>
              <a:t>1</a:t>
            </a:r>
            <a:r>
              <a:rPr lang="en-US" sz="3476">
                <a:solidFill>
                  <a:srgbClr val="464262"/>
                </a:solidFill>
                <a:latin typeface="Be Vietnam"/>
                <a:ea typeface="Be Vietnam"/>
                <a:cs typeface="Be Vietnam"/>
                <a:sym typeface="Be Vietnam"/>
              </a:rPr>
              <a:t> , Labriffe M </a:t>
            </a:r>
            <a:r>
              <a:rPr lang="en-US" sz="3476">
                <a:solidFill>
                  <a:srgbClr val="464262"/>
                </a:solidFill>
                <a:latin typeface="Be Vietnam"/>
                <a:ea typeface="Be Vietnam"/>
                <a:cs typeface="Be Vietnam"/>
                <a:sym typeface="Be Vietnam"/>
              </a:rPr>
              <a:t>1,2,3</a:t>
            </a:r>
            <a:r>
              <a:rPr lang="en-US" sz="3476">
                <a:solidFill>
                  <a:srgbClr val="464262"/>
                </a:solidFill>
                <a:latin typeface="Be Vietnam"/>
                <a:ea typeface="Be Vietnam"/>
                <a:cs typeface="Be Vietnam"/>
                <a:sym typeface="Be Vietnam"/>
              </a:rPr>
              <a:t> , Marquet P </a:t>
            </a:r>
            <a:r>
              <a:rPr lang="en-US" sz="3476">
                <a:solidFill>
                  <a:srgbClr val="464262"/>
                </a:solidFill>
                <a:latin typeface="Be Vietnam"/>
                <a:ea typeface="Be Vietnam"/>
                <a:cs typeface="Be Vietnam"/>
                <a:sym typeface="Be Vietnam"/>
              </a:rPr>
              <a:t>1,2,3</a:t>
            </a:r>
            <a:r>
              <a:rPr lang="en-US" sz="3476">
                <a:solidFill>
                  <a:srgbClr val="464262"/>
                </a:solidFill>
                <a:latin typeface="Be Vietnam"/>
                <a:ea typeface="Be Vietnam"/>
                <a:cs typeface="Be Vietnam"/>
                <a:sym typeface="Be Vietnam"/>
              </a:rPr>
              <a:t> , Monchaud C </a:t>
            </a:r>
            <a:r>
              <a:rPr lang="en-US" sz="3476">
                <a:solidFill>
                  <a:srgbClr val="464262"/>
                </a:solidFill>
                <a:latin typeface="Be Vietnam"/>
                <a:ea typeface="Be Vietnam"/>
                <a:cs typeface="Be Vietnam"/>
                <a:sym typeface="Be Vietnam"/>
              </a:rPr>
              <a:t>1,2,3</a:t>
            </a:r>
            <a:r>
              <a:rPr lang="en-US" sz="3476">
                <a:solidFill>
                  <a:srgbClr val="464262"/>
                </a:solidFill>
                <a:latin typeface="Be Vietnam"/>
                <a:ea typeface="Be Vietnam"/>
                <a:cs typeface="Be Vietnam"/>
                <a:sym typeface="Be Vietnam"/>
              </a:rPr>
              <a:t> , Woillard JB </a:t>
            </a:r>
            <a:r>
              <a:rPr lang="en-US" sz="3476">
                <a:solidFill>
                  <a:srgbClr val="464262"/>
                </a:solidFill>
                <a:latin typeface="Be Vietnam"/>
                <a:ea typeface="Be Vietnam"/>
                <a:cs typeface="Be Vietnam"/>
                <a:sym typeface="Be Vietnam"/>
              </a:rPr>
              <a:t>1,2,3</a:t>
            </a:r>
          </a:p>
          <a:p>
            <a:pPr algn="ctr">
              <a:lnSpc>
                <a:spcPts val="3292"/>
              </a:lnSpc>
            </a:pPr>
            <a:r>
              <a:rPr lang="en-US" sz="4276">
                <a:solidFill>
                  <a:srgbClr val="464262"/>
                </a:solidFill>
                <a:latin typeface="Be Vietnam"/>
                <a:ea typeface="Be Vietnam"/>
                <a:cs typeface="Be Vietnam"/>
                <a:sym typeface="Be Vietnam"/>
              </a:rPr>
              <a:t>On behalf of the pharmacometrics committee of IATDMCT</a:t>
            </a:r>
          </a:p>
        </p:txBody>
      </p:sp>
      <p:sp>
        <p:nvSpPr>
          <p:cNvPr name="TextBox 66" id="66"/>
          <p:cNvSpPr txBox="true"/>
          <p:nvPr/>
        </p:nvSpPr>
        <p:spPr>
          <a:xfrm rot="0">
            <a:off x="1240638" y="4910425"/>
            <a:ext cx="27883551" cy="935355"/>
          </a:xfrm>
          <a:prstGeom prst="rect">
            <a:avLst/>
          </a:prstGeom>
        </p:spPr>
        <p:txBody>
          <a:bodyPr anchor="t" rtlCol="false" tIns="0" lIns="0" bIns="0" rIns="0">
            <a:spAutoFit/>
          </a:bodyPr>
          <a:lstStyle/>
          <a:p>
            <a:pPr algn="ctr">
              <a:lnSpc>
                <a:spcPts val="2519"/>
              </a:lnSpc>
              <a:spcBef>
                <a:spcPct val="0"/>
              </a:spcBef>
            </a:pPr>
            <a:r>
              <a:rPr lang="en-US" b="true" sz="1799">
                <a:solidFill>
                  <a:srgbClr val="000000"/>
                </a:solidFill>
                <a:latin typeface="Be Vietnam Ultra-Bold"/>
                <a:ea typeface="Be Vietnam Ultra-Bold"/>
                <a:cs typeface="Be Vietnam Ultra-Bold"/>
                <a:sym typeface="Be Vietnam Ultra-Bold"/>
              </a:rPr>
              <a:t>1 Pharmacology &amp; Transplantation, INSERM U1248, Limoges University, Limoges, FRANCE</a:t>
            </a:r>
          </a:p>
          <a:p>
            <a:pPr algn="ctr">
              <a:lnSpc>
                <a:spcPts val="2519"/>
              </a:lnSpc>
              <a:spcBef>
                <a:spcPct val="0"/>
              </a:spcBef>
            </a:pPr>
            <a:r>
              <a:rPr lang="en-US" b="true" sz="1799">
                <a:solidFill>
                  <a:srgbClr val="000000"/>
                </a:solidFill>
                <a:latin typeface="Be Vietnam Ultra-Bold"/>
                <a:ea typeface="Be Vietnam Ultra-Bold"/>
                <a:cs typeface="Be Vietnam Ultra-Bold"/>
                <a:sym typeface="Be Vietnam Ultra-Bold"/>
              </a:rPr>
              <a:t>2 Department of Pharmacology, Toxicology and Pharmacovigilance, CHU Limoges, Limoges, FRANCE</a:t>
            </a:r>
          </a:p>
          <a:p>
            <a:pPr algn="ctr">
              <a:lnSpc>
                <a:spcPts val="2519"/>
              </a:lnSpc>
              <a:spcBef>
                <a:spcPct val="0"/>
              </a:spcBef>
            </a:pPr>
            <a:r>
              <a:rPr lang="en-US" b="true" sz="1799">
                <a:solidFill>
                  <a:srgbClr val="000000"/>
                </a:solidFill>
                <a:latin typeface="Be Vietnam Ultra-Bold"/>
                <a:ea typeface="Be Vietnam Ultra-Bold"/>
                <a:cs typeface="Be Vietnam Ultra-Bold"/>
                <a:sym typeface="Be Vietnam Ultra-Bold"/>
              </a:rPr>
              <a:t>3 Fédération Hospitalo-Universitaire Survival Optimization in Organ Transplantation (FHU SUPORT), Limoges, FRANCE</a:t>
            </a:r>
          </a:p>
        </p:txBody>
      </p:sp>
      <p:sp>
        <p:nvSpPr>
          <p:cNvPr name="TextBox 67" id="67"/>
          <p:cNvSpPr txBox="true"/>
          <p:nvPr/>
        </p:nvSpPr>
        <p:spPr>
          <a:xfrm rot="0">
            <a:off x="1879953" y="17006382"/>
            <a:ext cx="11377133" cy="679450"/>
          </a:xfrm>
          <a:prstGeom prst="rect">
            <a:avLst/>
          </a:prstGeom>
        </p:spPr>
        <p:txBody>
          <a:bodyPr anchor="t" rtlCol="false" tIns="0" lIns="0" bIns="0" rIns="0">
            <a:spAutoFit/>
          </a:bodyPr>
          <a:lstStyle/>
          <a:p>
            <a:pPr algn="l">
              <a:lnSpc>
                <a:spcPts val="5599"/>
              </a:lnSpc>
            </a:pPr>
            <a:r>
              <a:rPr lang="en-US" sz="3999" b="true">
                <a:solidFill>
                  <a:srgbClr val="000000"/>
                </a:solidFill>
                <a:latin typeface="Be Vietnam Ultra-Bold"/>
                <a:ea typeface="Be Vietnam Ultra-Bold"/>
                <a:cs typeface="Be Vietnam Ultra-Bold"/>
                <a:sym typeface="Be Vietnam Ultra-Bold"/>
              </a:rPr>
              <a:t>Bayesian Estimation: A Quick Refresher</a:t>
            </a:r>
          </a:p>
        </p:txBody>
      </p:sp>
      <p:sp>
        <p:nvSpPr>
          <p:cNvPr name="TextBox 68" id="68"/>
          <p:cNvSpPr txBox="true"/>
          <p:nvPr/>
        </p:nvSpPr>
        <p:spPr>
          <a:xfrm rot="0">
            <a:off x="15680114" y="7626716"/>
            <a:ext cx="13137374" cy="5468083"/>
          </a:xfrm>
          <a:prstGeom prst="rect">
            <a:avLst/>
          </a:prstGeom>
        </p:spPr>
        <p:txBody>
          <a:bodyPr anchor="t" rtlCol="false" tIns="0" lIns="0" bIns="0" rIns="0">
            <a:spAutoFit/>
          </a:bodyPr>
          <a:lstStyle/>
          <a:p>
            <a:pPr algn="just">
              <a:lnSpc>
                <a:spcPts val="3634"/>
              </a:lnSpc>
            </a:pPr>
            <a:r>
              <a:rPr lang="en-US" sz="2596">
                <a:solidFill>
                  <a:srgbClr val="000000"/>
                </a:solidFill>
                <a:latin typeface="Be Vietnam"/>
                <a:ea typeface="Be Vietnam"/>
                <a:cs typeface="Be Vietnam"/>
                <a:sym typeface="Be Vietnam"/>
              </a:rPr>
              <a:t>We investigated the impact of residual error on the estimation of pharmacokinetic (PK) parameters for three drugs: </a:t>
            </a:r>
          </a:p>
          <a:p>
            <a:pPr algn="just" marL="560503" indent="-280252" lvl="1">
              <a:lnSpc>
                <a:spcPts val="3634"/>
              </a:lnSpc>
              <a:buFont typeface="Arial"/>
              <a:buChar char="•"/>
            </a:pPr>
            <a:r>
              <a:rPr lang="en-US" sz="2596">
                <a:solidFill>
                  <a:srgbClr val="000000"/>
                </a:solidFill>
                <a:latin typeface="Be Vietnam"/>
                <a:ea typeface="Be Vietnam"/>
                <a:cs typeface="Be Vietnam"/>
                <a:sym typeface="Be Vietnam"/>
              </a:rPr>
              <a:t>Tacrolimus</a:t>
            </a:r>
          </a:p>
          <a:p>
            <a:pPr algn="just" marL="560503" indent="-280252" lvl="1">
              <a:lnSpc>
                <a:spcPts val="3634"/>
              </a:lnSpc>
              <a:buFont typeface="Arial"/>
              <a:buChar char="•"/>
            </a:pPr>
            <a:r>
              <a:rPr lang="en-US" sz="2596">
                <a:solidFill>
                  <a:srgbClr val="000000"/>
                </a:solidFill>
                <a:latin typeface="Be Vietnam"/>
                <a:ea typeface="Be Vietnam"/>
                <a:cs typeface="Be Vietnam"/>
                <a:sym typeface="Be Vietnam"/>
              </a:rPr>
              <a:t>Iohexol</a:t>
            </a:r>
          </a:p>
          <a:p>
            <a:pPr algn="just" marL="560503" indent="-280252" lvl="1">
              <a:lnSpc>
                <a:spcPts val="3634"/>
              </a:lnSpc>
              <a:buFont typeface="Arial"/>
              <a:buChar char="•"/>
            </a:pPr>
            <a:r>
              <a:rPr lang="en-US" sz="2596">
                <a:solidFill>
                  <a:srgbClr val="000000"/>
                </a:solidFill>
                <a:latin typeface="Be Vietnam"/>
                <a:ea typeface="Be Vietnam"/>
                <a:cs typeface="Be Vietnam"/>
                <a:sym typeface="Be Vietnam"/>
              </a:rPr>
              <a:t>Mycophenolate Mofetil (MMF). </a:t>
            </a:r>
          </a:p>
          <a:p>
            <a:pPr algn="just">
              <a:lnSpc>
                <a:spcPts val="3634"/>
              </a:lnSpc>
            </a:pPr>
            <a:r>
              <a:rPr lang="en-US" sz="2596">
                <a:solidFill>
                  <a:srgbClr val="000000"/>
                </a:solidFill>
                <a:latin typeface="Be Vietnam"/>
                <a:ea typeface="Be Vietnam"/>
                <a:cs typeface="Be Vietnam"/>
                <a:sym typeface="Be Vietnam"/>
              </a:rPr>
              <a:t>Depending on availability, data used for PK model development (Train dataset) or external validation (Test dataset) were utilized.</a:t>
            </a:r>
          </a:p>
          <a:p>
            <a:pPr algn="just">
              <a:lnSpc>
                <a:spcPts val="3634"/>
              </a:lnSpc>
            </a:pPr>
          </a:p>
          <a:p>
            <a:pPr algn="just">
              <a:lnSpc>
                <a:spcPts val="3634"/>
              </a:lnSpc>
            </a:pPr>
            <a:r>
              <a:rPr lang="en-US" sz="2596" b="true">
                <a:solidFill>
                  <a:srgbClr val="000000"/>
                </a:solidFill>
                <a:latin typeface="Be Vietnam Ultra-Bold"/>
                <a:ea typeface="Be Vietnam Ultra-Bold"/>
                <a:cs typeface="Be Vietnam Ultra-Bold"/>
                <a:sym typeface="Be Vietnam Ultra-Bold"/>
              </a:rPr>
              <a:t>Data Selection</a:t>
            </a:r>
          </a:p>
          <a:p>
            <a:pPr algn="just">
              <a:lnSpc>
                <a:spcPts val="3634"/>
              </a:lnSpc>
            </a:pPr>
            <a:r>
              <a:rPr lang="en-US" sz="2596">
                <a:solidFill>
                  <a:srgbClr val="000000"/>
                </a:solidFill>
                <a:latin typeface="Be Vietnam"/>
                <a:ea typeface="Be Vietnam"/>
                <a:cs typeface="Be Vietnam"/>
                <a:sym typeface="Be Vietnam"/>
              </a:rPr>
              <a:t>Only rich PK profiles, defined as those with at least eight observed concentrations per patient, were included in the analysis. A summary of the dataset characteristics is provided in the accompanying table.</a:t>
            </a:r>
          </a:p>
        </p:txBody>
      </p:sp>
      <p:sp>
        <p:nvSpPr>
          <p:cNvPr name="TextBox 69" id="69"/>
          <p:cNvSpPr txBox="true"/>
          <p:nvPr/>
        </p:nvSpPr>
        <p:spPr>
          <a:xfrm rot="0">
            <a:off x="1817234" y="12740136"/>
            <a:ext cx="9162276" cy="679450"/>
          </a:xfrm>
          <a:prstGeom prst="rect">
            <a:avLst/>
          </a:prstGeom>
        </p:spPr>
        <p:txBody>
          <a:bodyPr anchor="t" rtlCol="false" tIns="0" lIns="0" bIns="0" rIns="0">
            <a:spAutoFit/>
          </a:bodyPr>
          <a:lstStyle/>
          <a:p>
            <a:pPr algn="l">
              <a:lnSpc>
                <a:spcPts val="5599"/>
              </a:lnSpc>
            </a:pPr>
            <a:r>
              <a:rPr lang="en-US" sz="3999" b="true">
                <a:solidFill>
                  <a:srgbClr val="000000"/>
                </a:solidFill>
                <a:latin typeface="Be Vietnam Ultra-Bold"/>
                <a:ea typeface="Be Vietnam Ultra-Bold"/>
                <a:cs typeface="Be Vietnam Ultra-Bold"/>
                <a:sym typeface="Be Vietnam Ultra-Bold"/>
              </a:rPr>
              <a:t>Objective</a:t>
            </a:r>
          </a:p>
        </p:txBody>
      </p:sp>
      <p:sp>
        <p:nvSpPr>
          <p:cNvPr name="TextBox 70" id="70"/>
          <p:cNvSpPr txBox="true"/>
          <p:nvPr/>
        </p:nvSpPr>
        <p:spPr>
          <a:xfrm rot="0">
            <a:off x="1874856" y="13762486"/>
            <a:ext cx="12386924" cy="1380360"/>
          </a:xfrm>
          <a:prstGeom prst="rect">
            <a:avLst/>
          </a:prstGeom>
        </p:spPr>
        <p:txBody>
          <a:bodyPr anchor="t" rtlCol="false" tIns="0" lIns="0" bIns="0" rIns="0">
            <a:spAutoFit/>
          </a:bodyPr>
          <a:lstStyle/>
          <a:p>
            <a:pPr algn="just">
              <a:lnSpc>
                <a:spcPts val="3717"/>
              </a:lnSpc>
            </a:pPr>
            <a:r>
              <a:rPr lang="en-US" sz="2655">
                <a:solidFill>
                  <a:srgbClr val="000000"/>
                </a:solidFill>
                <a:latin typeface="Be Vietnam"/>
                <a:ea typeface="Be Vietnam"/>
                <a:cs typeface="Be Vietnam"/>
                <a:sym typeface="Be Vietnam"/>
              </a:rPr>
              <a:t>To explore an alternative strategy: reducing residual error to increase the weight of individual data (likelihood) in Maximum A Posteriori Bayesian Estimation (MAPBE).</a:t>
            </a:r>
          </a:p>
        </p:txBody>
      </p:sp>
      <p:sp>
        <p:nvSpPr>
          <p:cNvPr name="TextBox 71" id="71"/>
          <p:cNvSpPr txBox="true"/>
          <p:nvPr/>
        </p:nvSpPr>
        <p:spPr>
          <a:xfrm rot="0">
            <a:off x="15680114" y="18282130"/>
            <a:ext cx="13137374" cy="6382385"/>
          </a:xfrm>
          <a:prstGeom prst="rect">
            <a:avLst/>
          </a:prstGeom>
        </p:spPr>
        <p:txBody>
          <a:bodyPr anchor="t" rtlCol="false" tIns="0" lIns="0" bIns="0" rIns="0">
            <a:spAutoFit/>
          </a:bodyPr>
          <a:lstStyle/>
          <a:p>
            <a:pPr algn="just">
              <a:lnSpc>
                <a:spcPts val="3640"/>
              </a:lnSpc>
              <a:spcBef>
                <a:spcPct val="0"/>
              </a:spcBef>
            </a:pPr>
            <a:r>
              <a:rPr lang="en-US" b="true" sz="2600">
                <a:solidFill>
                  <a:srgbClr val="000000"/>
                </a:solidFill>
                <a:latin typeface="Be Vietnam Ultra-Bold"/>
                <a:ea typeface="Be Vietnam Ultra-Bold"/>
                <a:cs typeface="Be Vietnam Ultra-Bold"/>
                <a:sym typeface="Be Vietnam Ultra-Bold"/>
              </a:rPr>
              <a:t>Bayesian Estimation Approach</a:t>
            </a:r>
          </a:p>
          <a:p>
            <a:pPr algn="just">
              <a:lnSpc>
                <a:spcPts val="3640"/>
              </a:lnSpc>
              <a:spcBef>
                <a:spcPct val="0"/>
              </a:spcBef>
            </a:pPr>
            <a:r>
              <a:rPr lang="en-US" sz="2600">
                <a:solidFill>
                  <a:srgbClr val="000000"/>
                </a:solidFill>
                <a:latin typeface="Be Vietnam"/>
                <a:ea typeface="Be Vietnam"/>
                <a:cs typeface="Be Vietnam"/>
                <a:sym typeface="Be Vietnam"/>
              </a:rPr>
              <a:t>Maximum A Posteriori (MAP) Bayesian estimation was performed under different residual error scenarios, to assess its influence on PK parameter estimation:</a:t>
            </a:r>
          </a:p>
          <a:p>
            <a:pPr algn="just" marL="561341" indent="-280670" lvl="1">
              <a:lnSpc>
                <a:spcPts val="3640"/>
              </a:lnSpc>
              <a:spcBef>
                <a:spcPct val="0"/>
              </a:spcBef>
              <a:buFont typeface="Arial"/>
              <a:buChar char="•"/>
            </a:pPr>
            <a:r>
              <a:rPr lang="en-US" sz="2600">
                <a:solidFill>
                  <a:srgbClr val="000000"/>
                </a:solidFill>
                <a:latin typeface="Be Vietnam"/>
                <a:ea typeface="Be Vietnam"/>
                <a:cs typeface="Be Vietnam"/>
                <a:sym typeface="Be Vietnam"/>
              </a:rPr>
              <a:t>Negligible residual error (10</a:t>
            </a:r>
            <a:r>
              <a:rPr lang="en-US" sz="2600">
                <a:solidFill>
                  <a:srgbClr val="000000"/>
                </a:solidFill>
                <a:latin typeface="Be Vietnam"/>
                <a:ea typeface="Be Vietnam"/>
                <a:cs typeface="Be Vietnam"/>
                <a:sym typeface="Be Vietnam"/>
              </a:rPr>
              <a:t>-10</a:t>
            </a:r>
            <a:r>
              <a:rPr lang="en-US" sz="2600">
                <a:solidFill>
                  <a:srgbClr val="000000"/>
                </a:solidFill>
                <a:latin typeface="Be Vietnam"/>
                <a:ea typeface="Be Vietnam"/>
                <a:cs typeface="Be Vietnam"/>
                <a:sym typeface="Be Vietnam"/>
              </a:rPr>
              <a:t> proportionnal error)</a:t>
            </a:r>
          </a:p>
          <a:p>
            <a:pPr algn="just" marL="561341" indent="-280670" lvl="1">
              <a:lnSpc>
                <a:spcPts val="3640"/>
              </a:lnSpc>
              <a:spcBef>
                <a:spcPct val="0"/>
              </a:spcBef>
              <a:buFont typeface="Arial"/>
              <a:buChar char="•"/>
            </a:pPr>
            <a:r>
              <a:rPr lang="en-US" sz="2600">
                <a:solidFill>
                  <a:srgbClr val="000000"/>
                </a:solidFill>
                <a:latin typeface="Be Vietnam"/>
                <a:ea typeface="Be Vietnam"/>
                <a:cs typeface="Be Vietnam"/>
                <a:sym typeface="Be Vietnam"/>
              </a:rPr>
              <a:t>Proportional error models: 1% and 5% proportional error </a:t>
            </a:r>
          </a:p>
          <a:p>
            <a:pPr algn="just" marL="561341" indent="-280670" lvl="1">
              <a:lnSpc>
                <a:spcPts val="3640"/>
              </a:lnSpc>
              <a:spcBef>
                <a:spcPct val="0"/>
              </a:spcBef>
              <a:buFont typeface="Arial"/>
              <a:buChar char="•"/>
            </a:pPr>
            <a:r>
              <a:rPr lang="en-US" sz="2600">
                <a:solidFill>
                  <a:srgbClr val="000000"/>
                </a:solidFill>
                <a:latin typeface="Be Vietnam"/>
                <a:ea typeface="Be Vietnam"/>
                <a:cs typeface="Be Vietnam"/>
                <a:sym typeface="Be Vietnam"/>
              </a:rPr>
              <a:t>Scaled error models: 0.2×, 0.4×, 0.6×, 0.8× original error</a:t>
            </a:r>
          </a:p>
          <a:p>
            <a:pPr algn="just" marL="561341" indent="-280670" lvl="1">
              <a:lnSpc>
                <a:spcPts val="3640"/>
              </a:lnSpc>
              <a:spcBef>
                <a:spcPct val="0"/>
              </a:spcBef>
              <a:buFont typeface="Arial"/>
              <a:buChar char="•"/>
            </a:pPr>
            <a:r>
              <a:rPr lang="en-US" sz="2600">
                <a:solidFill>
                  <a:srgbClr val="000000"/>
                </a:solidFill>
                <a:latin typeface="Be Vietnam"/>
                <a:ea typeface="Be Vietnam"/>
                <a:cs typeface="Be Vietnam"/>
                <a:sym typeface="Be Vietnam"/>
              </a:rPr>
              <a:t>Original residual error (as defined in the PK model)</a:t>
            </a:r>
          </a:p>
          <a:p>
            <a:pPr algn="just">
              <a:lnSpc>
                <a:spcPts val="3640"/>
              </a:lnSpc>
              <a:spcBef>
                <a:spcPct val="0"/>
              </a:spcBef>
            </a:pPr>
            <a:r>
              <a:rPr lang="en-US" sz="2600">
                <a:solidFill>
                  <a:srgbClr val="000000"/>
                </a:solidFill>
                <a:latin typeface="Be Vietnam"/>
                <a:ea typeface="Be Vietnam"/>
                <a:cs typeface="Be Vietnam"/>
                <a:sym typeface="Be Vietnam"/>
              </a:rPr>
              <a:t>Bayesian estimation was done using mapbayr package on R.4.4.2</a:t>
            </a:r>
          </a:p>
          <a:p>
            <a:pPr algn="just">
              <a:lnSpc>
                <a:spcPts val="3640"/>
              </a:lnSpc>
              <a:spcBef>
                <a:spcPct val="0"/>
              </a:spcBef>
            </a:pPr>
          </a:p>
          <a:p>
            <a:pPr algn="just">
              <a:lnSpc>
                <a:spcPts val="3640"/>
              </a:lnSpc>
              <a:spcBef>
                <a:spcPct val="0"/>
              </a:spcBef>
            </a:pPr>
            <a:r>
              <a:rPr lang="en-US" b="true" sz="2600">
                <a:solidFill>
                  <a:srgbClr val="000000"/>
                </a:solidFill>
                <a:latin typeface="Be Vietnam Ultra-Bold"/>
                <a:ea typeface="Be Vietnam Ultra-Bold"/>
                <a:cs typeface="Be Vietnam Ultra-Bold"/>
                <a:sym typeface="Be Vietnam Ultra-Bold"/>
              </a:rPr>
              <a:t>Error Evaluation and Comparison</a:t>
            </a:r>
          </a:p>
          <a:p>
            <a:pPr algn="just">
              <a:lnSpc>
                <a:spcPts val="3640"/>
              </a:lnSpc>
              <a:spcBef>
                <a:spcPct val="0"/>
              </a:spcBef>
            </a:pPr>
            <a:r>
              <a:rPr lang="en-US" sz="2600">
                <a:solidFill>
                  <a:srgbClr val="000000"/>
                </a:solidFill>
                <a:latin typeface="Be Vietnam"/>
                <a:ea typeface="Be Vietnam"/>
                <a:cs typeface="Be Vietnam"/>
                <a:sym typeface="Be Vietnam"/>
              </a:rPr>
              <a:t>To quantify the impact of residual error on the accuracy of AUC estimation, we calculated the Root Mean Square Error (RMSE), defined as the square root of the mean squared bias across scenarios. The RMSE values were compared to assess the influence of different error magnitudes on Bayesian estimates.</a:t>
            </a:r>
          </a:p>
        </p:txBody>
      </p:sp>
      <p:sp>
        <p:nvSpPr>
          <p:cNvPr name="TextBox 72" id="72"/>
          <p:cNvSpPr txBox="true"/>
          <p:nvPr/>
        </p:nvSpPr>
        <p:spPr>
          <a:xfrm rot="0">
            <a:off x="16262913" y="26486438"/>
            <a:ext cx="3708274" cy="580489"/>
          </a:xfrm>
          <a:prstGeom prst="rect">
            <a:avLst/>
          </a:prstGeom>
        </p:spPr>
        <p:txBody>
          <a:bodyPr anchor="t" rtlCol="false" tIns="0" lIns="0" bIns="0" rIns="0">
            <a:spAutoFit/>
          </a:bodyPr>
          <a:lstStyle/>
          <a:p>
            <a:pPr algn="l">
              <a:lnSpc>
                <a:spcPts val="4754"/>
              </a:lnSpc>
            </a:pPr>
            <a:r>
              <a:rPr lang="en-US" sz="3396" b="true">
                <a:solidFill>
                  <a:srgbClr val="000000"/>
                </a:solidFill>
                <a:latin typeface="Be Vietnam Ultra-Bold"/>
                <a:ea typeface="Be Vietnam Ultra-Bold"/>
                <a:cs typeface="Be Vietnam Ultra-Bold"/>
                <a:sym typeface="Be Vietnam Ultra-Bold"/>
              </a:rPr>
              <a:t>Individual Level</a:t>
            </a:r>
          </a:p>
        </p:txBody>
      </p:sp>
      <p:sp>
        <p:nvSpPr>
          <p:cNvPr name="TextBox 73" id="73"/>
          <p:cNvSpPr txBox="true"/>
          <p:nvPr/>
        </p:nvSpPr>
        <p:spPr>
          <a:xfrm rot="0">
            <a:off x="16262913" y="27183526"/>
            <a:ext cx="12769159" cy="1353283"/>
          </a:xfrm>
          <a:prstGeom prst="rect">
            <a:avLst/>
          </a:prstGeom>
        </p:spPr>
        <p:txBody>
          <a:bodyPr anchor="t" rtlCol="false" tIns="0" lIns="0" bIns="0" rIns="0">
            <a:spAutoFit/>
          </a:bodyPr>
          <a:lstStyle/>
          <a:p>
            <a:pPr algn="just">
              <a:lnSpc>
                <a:spcPts val="3634"/>
              </a:lnSpc>
            </a:pPr>
            <a:r>
              <a:rPr lang="en-US" sz="2596">
                <a:solidFill>
                  <a:srgbClr val="464262"/>
                </a:solidFill>
                <a:latin typeface="Be Vietnam"/>
                <a:ea typeface="Be Vietnam"/>
                <a:cs typeface="Be Vietnam"/>
                <a:sym typeface="Be Vietnam"/>
              </a:rPr>
              <a:t>By using a reduced residual error approach, the PK parameter estimates are allowed to drift further from the population estimates, and the concentration‐time curve passes closer to the measured value.</a:t>
            </a:r>
          </a:p>
        </p:txBody>
      </p:sp>
      <p:sp>
        <p:nvSpPr>
          <p:cNvPr name="TextBox 74" id="74"/>
          <p:cNvSpPr txBox="true"/>
          <p:nvPr/>
        </p:nvSpPr>
        <p:spPr>
          <a:xfrm rot="0">
            <a:off x="22647493" y="36932070"/>
            <a:ext cx="3560431" cy="679450"/>
          </a:xfrm>
          <a:prstGeom prst="rect">
            <a:avLst/>
          </a:prstGeom>
        </p:spPr>
        <p:txBody>
          <a:bodyPr anchor="t" rtlCol="false" tIns="0" lIns="0" bIns="0" rIns="0">
            <a:spAutoFit/>
          </a:bodyPr>
          <a:lstStyle/>
          <a:p>
            <a:pPr algn="l">
              <a:lnSpc>
                <a:spcPts val="5599"/>
              </a:lnSpc>
            </a:pPr>
            <a:r>
              <a:rPr lang="en-US" sz="3999" b="true">
                <a:solidFill>
                  <a:srgbClr val="000000"/>
                </a:solidFill>
                <a:latin typeface="Be Vietnam Ultra-Bold"/>
                <a:ea typeface="Be Vietnam Ultra-Bold"/>
                <a:cs typeface="Be Vietnam Ultra-Bold"/>
                <a:sym typeface="Be Vietnam Ultra-Bold"/>
              </a:rPr>
              <a:t>Perspective</a:t>
            </a:r>
          </a:p>
        </p:txBody>
      </p:sp>
      <p:sp>
        <p:nvSpPr>
          <p:cNvPr name="TextBox 75" id="75"/>
          <p:cNvSpPr txBox="true"/>
          <p:nvPr/>
        </p:nvSpPr>
        <p:spPr>
          <a:xfrm rot="0">
            <a:off x="22500339" y="37887754"/>
            <a:ext cx="6321462" cy="2724785"/>
          </a:xfrm>
          <a:prstGeom prst="rect">
            <a:avLst/>
          </a:prstGeom>
        </p:spPr>
        <p:txBody>
          <a:bodyPr anchor="t" rtlCol="false" tIns="0" lIns="0" bIns="0" rIns="0">
            <a:spAutoFit/>
          </a:bodyPr>
          <a:lstStyle/>
          <a:p>
            <a:pPr algn="just">
              <a:lnSpc>
                <a:spcPts val="3640"/>
              </a:lnSpc>
            </a:pPr>
            <a:r>
              <a:rPr lang="en-US" sz="2600">
                <a:solidFill>
                  <a:srgbClr val="000000"/>
                </a:solidFill>
                <a:latin typeface="Be Vietnam"/>
                <a:ea typeface="Be Vietnam"/>
                <a:cs typeface="Be Vietnam"/>
                <a:sym typeface="Be Vietnam"/>
              </a:rPr>
              <a:t>There may be</a:t>
            </a:r>
            <a:r>
              <a:rPr lang="en-US" sz="2600">
                <a:solidFill>
                  <a:srgbClr val="000000"/>
                </a:solidFill>
                <a:latin typeface="Be Vietnam"/>
                <a:ea typeface="Be Vietnam"/>
                <a:cs typeface="Be Vietnam"/>
                <a:sym typeface="Be Vietnam"/>
              </a:rPr>
              <a:t> a common minimum that can be used to estimate the parameters most accurately. </a:t>
            </a:r>
          </a:p>
          <a:p>
            <a:pPr algn="just">
              <a:lnSpc>
                <a:spcPts val="3640"/>
              </a:lnSpc>
            </a:pPr>
            <a:r>
              <a:rPr lang="en-US" sz="2600">
                <a:solidFill>
                  <a:srgbClr val="000000"/>
                </a:solidFill>
                <a:latin typeface="Be Vietnam"/>
                <a:ea typeface="Be Vietnam"/>
                <a:cs typeface="Be Vietnam"/>
                <a:sym typeface="Be Vietnam"/>
              </a:rPr>
              <a:t>This could involve flattening the prior, emphasising the likelihood, or a combination of both.</a:t>
            </a:r>
          </a:p>
        </p:txBody>
      </p:sp>
      <p:sp>
        <p:nvSpPr>
          <p:cNvPr name="TextBox 76" id="76"/>
          <p:cNvSpPr txBox="true"/>
          <p:nvPr/>
        </p:nvSpPr>
        <p:spPr>
          <a:xfrm rot="0">
            <a:off x="2084835" y="27221626"/>
            <a:ext cx="13595279" cy="1353283"/>
          </a:xfrm>
          <a:prstGeom prst="rect">
            <a:avLst/>
          </a:prstGeom>
        </p:spPr>
        <p:txBody>
          <a:bodyPr anchor="t" rtlCol="false" tIns="0" lIns="0" bIns="0" rIns="0">
            <a:spAutoFit/>
          </a:bodyPr>
          <a:lstStyle/>
          <a:p>
            <a:pPr algn="just">
              <a:lnSpc>
                <a:spcPts val="3634"/>
              </a:lnSpc>
            </a:pPr>
            <a:r>
              <a:rPr lang="en-US" sz="2596">
                <a:solidFill>
                  <a:srgbClr val="464262"/>
                </a:solidFill>
                <a:latin typeface="Be Vietnam"/>
                <a:ea typeface="Be Vietnam"/>
                <a:cs typeface="Be Vietnam"/>
                <a:sym typeface="Be Vietnam"/>
              </a:rPr>
              <a:t>Reducing the residual error reduces the RMSE and therefore improves the accuracy of the AUC estimates.The higher the basal RMSEs, the greater the improvement seems to be.</a:t>
            </a:r>
          </a:p>
        </p:txBody>
      </p:sp>
      <p:sp>
        <p:nvSpPr>
          <p:cNvPr name="TextBox 77" id="77"/>
          <p:cNvSpPr txBox="true"/>
          <p:nvPr/>
        </p:nvSpPr>
        <p:spPr>
          <a:xfrm rot="0">
            <a:off x="13788941" y="41316513"/>
            <a:ext cx="14412955" cy="1054025"/>
          </a:xfrm>
          <a:prstGeom prst="rect">
            <a:avLst/>
          </a:prstGeom>
        </p:spPr>
        <p:txBody>
          <a:bodyPr anchor="t" rtlCol="false" tIns="0" lIns="0" bIns="0" rIns="0">
            <a:spAutoFit/>
          </a:bodyPr>
          <a:lstStyle/>
          <a:p>
            <a:pPr algn="l" marL="0" indent="0" lvl="0">
              <a:lnSpc>
                <a:spcPts val="2804"/>
              </a:lnSpc>
              <a:spcBef>
                <a:spcPct val="0"/>
              </a:spcBef>
            </a:pPr>
            <a:r>
              <a:rPr lang="en-US" sz="2002" strike="noStrike" u="none">
                <a:solidFill>
                  <a:srgbClr val="464262"/>
                </a:solidFill>
                <a:latin typeface="Be Vietnam"/>
                <a:ea typeface="Be Vietnam"/>
                <a:cs typeface="Be Vietnam"/>
                <a:sym typeface="Be Vietnam"/>
              </a:rPr>
              <a:t>Iohexol Model : Zwart TC et al. Clin Pharmacokinet. 2021;60(9):1201–15.</a:t>
            </a:r>
          </a:p>
          <a:p>
            <a:pPr algn="l" marL="0" indent="0" lvl="0">
              <a:lnSpc>
                <a:spcPts val="2804"/>
              </a:lnSpc>
              <a:spcBef>
                <a:spcPct val="0"/>
              </a:spcBef>
            </a:pPr>
            <a:r>
              <a:rPr lang="en-US" sz="2002" strike="noStrike" u="none">
                <a:solidFill>
                  <a:srgbClr val="464262"/>
                </a:solidFill>
                <a:latin typeface="Be Vietnam"/>
                <a:ea typeface="Be Vietnam"/>
                <a:cs typeface="Be Vietnam"/>
                <a:sym typeface="Be Vietnam"/>
              </a:rPr>
              <a:t>MMF Model : Rong Y et al. CClin Pharmacokinet. 2019;58(11):1483-95.</a:t>
            </a:r>
          </a:p>
          <a:p>
            <a:pPr algn="l" marL="0" indent="0" lvl="0">
              <a:lnSpc>
                <a:spcPts val="2804"/>
              </a:lnSpc>
              <a:spcBef>
                <a:spcPct val="0"/>
              </a:spcBef>
            </a:pPr>
            <a:r>
              <a:rPr lang="en-US" sz="2002" strike="noStrike" u="none">
                <a:solidFill>
                  <a:srgbClr val="464262"/>
                </a:solidFill>
                <a:latin typeface="Be Vietnam"/>
                <a:ea typeface="Be Vietnam"/>
                <a:cs typeface="Be Vietnam"/>
                <a:sym typeface="Be Vietnam"/>
              </a:rPr>
              <a:t>MAPBE Prior Flattening: Hughes JH, Keizer RJ. CPT Pharmacometrics Syst Pharmacol. 2021;10(10):1150–60.</a:t>
            </a:r>
          </a:p>
        </p:txBody>
      </p:sp>
      <p:sp>
        <p:nvSpPr>
          <p:cNvPr name="TextBox 78" id="78"/>
          <p:cNvSpPr txBox="true"/>
          <p:nvPr/>
        </p:nvSpPr>
        <p:spPr>
          <a:xfrm rot="0">
            <a:off x="13112236" y="36932070"/>
            <a:ext cx="5872187" cy="679450"/>
          </a:xfrm>
          <a:prstGeom prst="rect">
            <a:avLst/>
          </a:prstGeom>
        </p:spPr>
        <p:txBody>
          <a:bodyPr anchor="t" rtlCol="false" tIns="0" lIns="0" bIns="0" rIns="0">
            <a:spAutoFit/>
          </a:bodyPr>
          <a:lstStyle/>
          <a:p>
            <a:pPr algn="l">
              <a:lnSpc>
                <a:spcPts val="5599"/>
              </a:lnSpc>
            </a:pPr>
            <a:r>
              <a:rPr lang="en-US" sz="3999" b="true">
                <a:solidFill>
                  <a:srgbClr val="000000"/>
                </a:solidFill>
                <a:latin typeface="Be Vietnam Ultra-Bold"/>
                <a:ea typeface="Be Vietnam Ultra-Bold"/>
                <a:cs typeface="Be Vietnam Ultra-Bold"/>
                <a:sym typeface="Be Vietnam Ultra-Bold"/>
              </a:rPr>
              <a:t>Limits</a:t>
            </a:r>
          </a:p>
        </p:txBody>
      </p:sp>
      <p:sp>
        <p:nvSpPr>
          <p:cNvPr name="TextBox 79" id="79"/>
          <p:cNvSpPr txBox="true"/>
          <p:nvPr/>
        </p:nvSpPr>
        <p:spPr>
          <a:xfrm rot="0">
            <a:off x="12744096" y="37890487"/>
            <a:ext cx="8602804" cy="3181985"/>
          </a:xfrm>
          <a:prstGeom prst="rect">
            <a:avLst/>
          </a:prstGeom>
        </p:spPr>
        <p:txBody>
          <a:bodyPr anchor="t" rtlCol="false" tIns="0" lIns="0" bIns="0" rIns="0">
            <a:spAutoFit/>
          </a:bodyPr>
          <a:lstStyle/>
          <a:p>
            <a:pPr algn="just" marL="561341" indent="-280670" lvl="1">
              <a:lnSpc>
                <a:spcPts val="3640"/>
              </a:lnSpc>
              <a:buFont typeface="Arial"/>
              <a:buChar char="•"/>
            </a:pPr>
            <a:r>
              <a:rPr lang="en-US" sz="2600">
                <a:solidFill>
                  <a:srgbClr val="000000"/>
                </a:solidFill>
                <a:latin typeface="Be Vietnam"/>
                <a:ea typeface="Be Vietnam"/>
                <a:cs typeface="Be Vietnam"/>
                <a:sym typeface="Be Vietnam"/>
              </a:rPr>
              <a:t>The nu</a:t>
            </a:r>
            <a:r>
              <a:rPr lang="en-US" sz="2600">
                <a:solidFill>
                  <a:srgbClr val="000000"/>
                </a:solidFill>
                <a:latin typeface="Be Vietnam"/>
                <a:ea typeface="Be Vietnam"/>
                <a:cs typeface="Be Vietnam"/>
                <a:sym typeface="Be Vietnam"/>
              </a:rPr>
              <a:t>ll residual error assumption is that all the observed variability arises from the structural model parameters, rather than from measurement noise.</a:t>
            </a:r>
          </a:p>
          <a:p>
            <a:pPr algn="just" marL="561341" indent="-280670" lvl="1">
              <a:lnSpc>
                <a:spcPts val="3640"/>
              </a:lnSpc>
              <a:buFont typeface="Arial"/>
              <a:buChar char="•"/>
            </a:pPr>
            <a:r>
              <a:rPr lang="en-US" sz="2600">
                <a:solidFill>
                  <a:srgbClr val="000000"/>
                </a:solidFill>
                <a:latin typeface="Be Vietnam"/>
                <a:ea typeface="Be Vietnam"/>
                <a:cs typeface="Be Vietnam"/>
                <a:sym typeface="Be Vietnam"/>
              </a:rPr>
              <a:t>RMSE is a population-level metric and does not necessarily reflect individual-level performance. </a:t>
            </a:r>
          </a:p>
          <a:p>
            <a:pPr algn="just">
              <a:lnSpc>
                <a:spcPts val="3640"/>
              </a:lnSpc>
            </a:pPr>
          </a:p>
        </p:txBody>
      </p:sp>
      <p:sp>
        <p:nvSpPr>
          <p:cNvPr name="TextBox 80" id="80"/>
          <p:cNvSpPr txBox="true"/>
          <p:nvPr/>
        </p:nvSpPr>
        <p:spPr>
          <a:xfrm rot="0">
            <a:off x="16048329" y="34058570"/>
            <a:ext cx="12769159" cy="2267683"/>
          </a:xfrm>
          <a:prstGeom prst="rect">
            <a:avLst/>
          </a:prstGeom>
        </p:spPr>
        <p:txBody>
          <a:bodyPr anchor="t" rtlCol="false" tIns="0" lIns="0" bIns="0" rIns="0">
            <a:spAutoFit/>
          </a:bodyPr>
          <a:lstStyle/>
          <a:p>
            <a:pPr algn="just">
              <a:lnSpc>
                <a:spcPts val="3634"/>
              </a:lnSpc>
            </a:pPr>
            <a:r>
              <a:rPr lang="en-US" sz="2596">
                <a:solidFill>
                  <a:srgbClr val="464262"/>
                </a:solidFill>
                <a:latin typeface="Be Vietnam"/>
                <a:ea typeface="Be Vietnam"/>
                <a:cs typeface="Be Vietnam"/>
                <a:sym typeface="Be Vietnam"/>
              </a:rPr>
              <a:t>However some rare times overfitting data are observed when the residual error is negligeable (only 2 out of the 394 patients) </a:t>
            </a:r>
          </a:p>
          <a:p>
            <a:pPr algn="just">
              <a:lnSpc>
                <a:spcPts val="3634"/>
              </a:lnSpc>
            </a:pPr>
            <a:r>
              <a:rPr lang="en-US" sz="2596">
                <a:solidFill>
                  <a:srgbClr val="464262"/>
                </a:solidFill>
                <a:latin typeface="Be Vietnam"/>
                <a:ea typeface="Be Vietnam"/>
                <a:cs typeface="Be Vietnam"/>
                <a:sym typeface="Be Vietnam"/>
              </a:rPr>
              <a:t>Scenarios with a 1% proportional error and those assuming negligible error provided the most accurate AUC estimates, with no meaningful difference observed between these two approaches.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DAGm9PyCjSM</dc:identifier>
  <dcterms:modified xsi:type="dcterms:W3CDTF">2011-08-01T06:04:30Z</dcterms:modified>
  <cp:revision>1</cp:revision>
  <dc:title>Academic Research Poster</dc:title>
</cp:coreProperties>
</file>